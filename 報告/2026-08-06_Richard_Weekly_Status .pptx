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65" r:id="rId3"/>
    <p:sldId id="285" r:id="rId4"/>
    <p:sldId id="267" r:id="rId5"/>
    <p:sldId id="261" r:id="rId6"/>
    <p:sldId id="269" r:id="rId7"/>
    <p:sldId id="270" r:id="rId8"/>
    <p:sldId id="271" r:id="rId9"/>
    <p:sldId id="272" r:id="rId10"/>
    <p:sldId id="273" r:id="rId11"/>
    <p:sldId id="275" r:id="rId12"/>
    <p:sldId id="276" r:id="rId13"/>
    <p:sldId id="277" r:id="rId14"/>
    <p:sldId id="278" r:id="rId15"/>
    <p:sldId id="279" r:id="rId16"/>
    <p:sldId id="281" r:id="rId17"/>
    <p:sldId id="282" r:id="rId18"/>
    <p:sldId id="283" r:id="rId19"/>
    <p:sldId id="284" r:id="rId20"/>
    <p:sldId id="286" r:id="rId21"/>
    <p:sldId id="287" r:id="rId22"/>
    <p:sldId id="288" r:id="rId23"/>
    <p:sldId id="289" r:id="rId24"/>
  </p:sldIdLst>
  <p:sldSz cx="18288000" cy="10287000"/>
  <p:notesSz cx="6858000" cy="9144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  <p:embeddedFont>
      <p:font typeface="Roboto Bold" panose="02020500000000000000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6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w-ece-ntust/Winnie-note/blob/master/Handover.md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E1c67CCP8z6qx_a7sJeDWtmxw5rQaibv/edit?gid=1471206873#gid=1471206873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699" y="647700"/>
            <a:ext cx="16644937" cy="15272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360"/>
              </a:lnSpc>
            </a:pPr>
            <a:r>
              <a:rPr lang="en-US" altLang="zh-TW" sz="9600" b="1" dirty="0"/>
              <a:t>Weekly Progress Report (07/28)</a:t>
            </a:r>
            <a:endParaRPr lang="en-US" altLang="zh-TW" sz="104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DA975526-3572-432E-964A-1995EB720D6D}"/>
              </a:ext>
            </a:extLst>
          </p:cNvPr>
          <p:cNvSpPr txBox="1"/>
          <p:nvPr/>
        </p:nvSpPr>
        <p:spPr>
          <a:xfrm>
            <a:off x="1028699" y="4229568"/>
            <a:ext cx="7620000" cy="2920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5400" dirty="0">
                <a:sym typeface="PT Serif"/>
              </a:rPr>
              <a:t>Topic</a:t>
            </a:r>
            <a:r>
              <a:rPr lang="zh-TW" altLang="en-US" sz="5400" dirty="0">
                <a:sym typeface="PT Serif"/>
              </a:rPr>
              <a:t>：</a:t>
            </a:r>
            <a:r>
              <a:rPr lang="en-US" altLang="zh-TW" sz="5400" dirty="0">
                <a:sym typeface="PT Serif"/>
              </a:rPr>
              <a:t>(Pending)</a:t>
            </a:r>
          </a:p>
          <a:p>
            <a:pPr algn="l">
              <a:lnSpc>
                <a:spcPts val="4480"/>
              </a:lnSpc>
            </a:pPr>
            <a:endParaRPr lang="en-US" sz="5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sz="5400" dirty="0">
                <a:sym typeface="PT Serif"/>
              </a:rPr>
              <a:t>Name</a:t>
            </a:r>
            <a:r>
              <a:rPr lang="zh-TW" altLang="en-US" sz="5400" dirty="0">
                <a:sym typeface="PT Serif"/>
              </a:rPr>
              <a:t>：徐銘亨 </a:t>
            </a:r>
            <a:r>
              <a:rPr lang="en-US" altLang="zh-TW" sz="5400" dirty="0">
                <a:sym typeface="PT Serif"/>
              </a:rPr>
              <a:t>(Richard)</a:t>
            </a:r>
          </a:p>
          <a:p>
            <a:pPr algn="l">
              <a:lnSpc>
                <a:spcPts val="4480"/>
              </a:lnSpc>
            </a:pPr>
            <a:endParaRPr lang="en-US" sz="5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sz="5400" dirty="0">
                <a:sym typeface="PT Serif"/>
              </a:rPr>
              <a:t>Teacher</a:t>
            </a:r>
            <a:r>
              <a:rPr lang="zh-TW" altLang="en-US" sz="5400" dirty="0">
                <a:sym typeface="PT Serif"/>
              </a:rPr>
              <a:t>：鄭瑞光 </a:t>
            </a:r>
            <a:r>
              <a:rPr lang="en-US" altLang="zh-TW" sz="5400" dirty="0">
                <a:sym typeface="PT Serif"/>
              </a:rPr>
              <a:t>(Ray)</a:t>
            </a:r>
            <a:endParaRPr lang="en-US" sz="5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4278238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5600700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12000" b="1" spc="-480" dirty="0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Outline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775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Recently work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</a:t>
            </a:r>
            <a:r>
              <a:rPr lang="en-US" altLang="zh-TW" sz="4400" dirty="0"/>
              <a:t> Replicate </a:t>
            </a:r>
            <a:r>
              <a:rPr lang="en-US" altLang="zh-TW" sz="4400" dirty="0" err="1"/>
              <a:t>Tobby’s</a:t>
            </a:r>
            <a:r>
              <a:rPr lang="en-US" altLang="zh-TW" sz="4400" dirty="0"/>
              <a:t> experiment</a:t>
            </a:r>
          </a:p>
          <a:p>
            <a:pPr algn="l">
              <a:lnSpc>
                <a:spcPts val="4480"/>
              </a:lnSpc>
            </a:pPr>
            <a:br>
              <a:rPr lang="en-US" altLang="zh-TW" sz="4400" dirty="0"/>
            </a:br>
            <a:r>
              <a:rPr lang="en-US" altLang="zh-TW" sz="4400" dirty="0"/>
              <a:t>	-&gt; Reach</a:t>
            </a:r>
            <a:r>
              <a:rPr lang="zh-TW" altLang="en-US" sz="4400" dirty="0"/>
              <a:t> </a:t>
            </a:r>
            <a:r>
              <a:rPr lang="en-US" altLang="zh-TW" sz="4400" dirty="0"/>
              <a:t>out to TEEP David and time schedule</a:t>
            </a:r>
          </a:p>
          <a:p>
            <a:pPr algn="l">
              <a:lnSpc>
                <a:spcPts val="4480"/>
              </a:lnSpc>
            </a:pP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Pending work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Determine my topic on energy saving 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DA975526-3572-432E-964A-1995EB720D6D}"/>
              </a:ext>
            </a:extLst>
          </p:cNvPr>
          <p:cNvSpPr txBox="1"/>
          <p:nvPr/>
        </p:nvSpPr>
        <p:spPr>
          <a:xfrm>
            <a:off x="1059180" y="2933700"/>
            <a:ext cx="7620000" cy="578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endParaRPr lang="en-US" sz="4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2449424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447800" y="4076700"/>
            <a:ext cx="158496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455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F4410BC-98B4-4C33-9DCC-D7FFA41BD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187882"/>
            <a:ext cx="15335250" cy="79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65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8BF385EA-D5BD-494D-9B5F-DC06FCA50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409759"/>
              </p:ext>
            </p:extLst>
          </p:nvPr>
        </p:nvGraphicFramePr>
        <p:xfrm>
          <a:off x="1028700" y="2628900"/>
          <a:ext cx="16268700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4350">
                  <a:extLst>
                    <a:ext uri="{9D8B030D-6E8A-4147-A177-3AD203B41FA5}">
                      <a16:colId xmlns:a16="http://schemas.microsoft.com/office/drawing/2014/main" val="659138933"/>
                    </a:ext>
                  </a:extLst>
                </a:gridCol>
                <a:gridCol w="8134350">
                  <a:extLst>
                    <a:ext uri="{9D8B030D-6E8A-4147-A177-3AD203B41FA5}">
                      <a16:colId xmlns:a16="http://schemas.microsoft.com/office/drawing/2014/main" val="3794839335"/>
                    </a:ext>
                  </a:extLst>
                </a:gridCol>
              </a:tblGrid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3600" b="0" i="0" dirty="0">
                          <a:hlinkClick r:id="rId2"/>
                        </a:rPr>
                        <a:t>Winnie note - handover </a:t>
                      </a:r>
                      <a:endParaRPr lang="zh-TW" altLang="en-US" sz="3600" b="0" i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3600" dirty="0"/>
                        <a:t>Why</a:t>
                      </a:r>
                      <a:endParaRPr lang="zh-TW" altLang="en-US" sz="3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3248080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Clone </a:t>
                      </a:r>
                      <a:r>
                        <a:rPr lang="en-US" altLang="zh-TW" sz="2800" dirty="0" err="1"/>
                        <a:t>Tobby’s</a:t>
                      </a:r>
                      <a:r>
                        <a:rPr lang="en-US" altLang="zh-TW" sz="2800" dirty="0"/>
                        <a:t> repository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Generate the experiment graph</a:t>
                      </a:r>
                    </a:p>
                    <a:p>
                      <a:pPr algn="l"/>
                      <a:endParaRPr lang="en-US" altLang="zh-TW" sz="2000" dirty="0"/>
                    </a:p>
                    <a:p>
                      <a:pPr algn="l"/>
                      <a:r>
                        <a:rPr lang="en-US" altLang="zh-TW" sz="2000" dirty="0"/>
                        <a:t>Private access requires Git to download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242374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Environment Installation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Installing the Python extension in VS Code doesn't mean the system can run Python.</a:t>
                      </a:r>
                      <a:br>
                        <a:rPr lang="en-US" altLang="zh-TW" sz="2000" dirty="0"/>
                      </a:br>
                      <a:endParaRPr lang="en-US" altLang="zh-TW" sz="2000" dirty="0"/>
                    </a:p>
                    <a:p>
                      <a:pPr algn="l"/>
                      <a:r>
                        <a:rPr lang="en-US" altLang="zh-TW" sz="2000" dirty="0"/>
                        <a:t>Version problem cause to bugs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0627442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Check the cloned repository 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Clarify the path</a:t>
                      </a:r>
                      <a:br>
                        <a:rPr lang="en-US" altLang="zh-TW" sz="2000" dirty="0"/>
                      </a:br>
                      <a:endParaRPr lang="en-US" altLang="zh-TW" sz="2000" dirty="0"/>
                    </a:p>
                    <a:p>
                      <a:pPr algn="l"/>
                      <a:r>
                        <a:rPr lang="en-US" altLang="zh-TW" sz="2000" dirty="0"/>
                        <a:t>99% of the work is in </a:t>
                      </a:r>
                      <a:r>
                        <a:rPr lang="en-US" altLang="zh-TW" sz="2000" dirty="0" err="1"/>
                        <a:t>Data_modeling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0202230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Check access to the lab network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VAIVA simulator isn’t a public website. </a:t>
                      </a:r>
                      <a:br>
                        <a:rPr lang="en-US" altLang="zh-TW" sz="2000" dirty="0"/>
                      </a:br>
                      <a:br>
                        <a:rPr lang="en-US" altLang="zh-TW" sz="2000" dirty="0"/>
                      </a:br>
                      <a:r>
                        <a:rPr lang="en-US" altLang="zh-TW" sz="2000" dirty="0"/>
                        <a:t>It requires the internal lab network.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199990"/>
                  </a:ext>
                </a:extLst>
              </a:tr>
            </a:tbl>
          </a:graphicData>
        </a:graphic>
      </p:graphicFrame>
      <p:sp>
        <p:nvSpPr>
          <p:cNvPr id="16" name="TextBox 4">
            <a:extLst>
              <a:ext uri="{FF2B5EF4-FFF2-40B4-BE49-F238E27FC236}">
                <a16:creationId xmlns:a16="http://schemas.microsoft.com/office/drawing/2014/main" id="{12388052-7FA7-4FFD-AB82-CC300F9A1E4D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- 2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64543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8BF385EA-D5BD-494D-9B5F-DC06FCA50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920425"/>
              </p:ext>
            </p:extLst>
          </p:nvPr>
        </p:nvGraphicFramePr>
        <p:xfrm>
          <a:off x="1028700" y="2628900"/>
          <a:ext cx="16268700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4350">
                  <a:extLst>
                    <a:ext uri="{9D8B030D-6E8A-4147-A177-3AD203B41FA5}">
                      <a16:colId xmlns:a16="http://schemas.microsoft.com/office/drawing/2014/main" val="659138933"/>
                    </a:ext>
                  </a:extLst>
                </a:gridCol>
                <a:gridCol w="8134350">
                  <a:extLst>
                    <a:ext uri="{9D8B030D-6E8A-4147-A177-3AD203B41FA5}">
                      <a16:colId xmlns:a16="http://schemas.microsoft.com/office/drawing/2014/main" val="3794839335"/>
                    </a:ext>
                  </a:extLst>
                </a:gridCol>
              </a:tblGrid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3600" dirty="0"/>
                        <a:t>Problem</a:t>
                      </a:r>
                      <a:endParaRPr lang="zh-TW" altLang="en-US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3600" dirty="0"/>
                        <a:t>Solution</a:t>
                      </a:r>
                      <a:endParaRPr lang="zh-TW" altLang="en-US" sz="3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3248080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Locate the file path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cd, ls , </a:t>
                      </a:r>
                      <a:r>
                        <a:rPr lang="en-US" altLang="zh-TW" sz="2000" dirty="0" err="1"/>
                        <a:t>dir</a:t>
                      </a:r>
                      <a:r>
                        <a:rPr lang="en-US" altLang="zh-TW" sz="2000" dirty="0"/>
                        <a:t> ...</a:t>
                      </a:r>
                      <a:br>
                        <a:rPr lang="en-US" altLang="zh-TW" sz="2000" dirty="0"/>
                      </a:br>
                      <a:br>
                        <a:rPr lang="en-US" altLang="zh-TW" sz="2000" dirty="0"/>
                      </a:br>
                      <a:r>
                        <a:rPr lang="en-US" altLang="zh-TW" sz="2000" dirty="0"/>
                        <a:t>Turn to AI for help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242374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Link to VAIVA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1</a:t>
                      </a:r>
                      <a:r>
                        <a:rPr lang="zh-TW" altLang="en-US" sz="2000" dirty="0"/>
                        <a:t>、</a:t>
                      </a:r>
                      <a:r>
                        <a:rPr lang="en-US" altLang="zh-TW" sz="2000" dirty="0"/>
                        <a:t>Check whether VAIVA is alive. -&gt;</a:t>
                      </a:r>
                      <a:r>
                        <a:rPr lang="zh-TW" altLang="en-US" sz="2000" dirty="0"/>
                        <a:t> </a:t>
                      </a:r>
                      <a:r>
                        <a:rPr lang="en-US" altLang="zh-TW" sz="2000" dirty="0"/>
                        <a:t>ping 192.168.8.28</a:t>
                      </a:r>
                    </a:p>
                    <a:p>
                      <a:pPr algn="l"/>
                      <a:endParaRPr lang="en-US" altLang="zh-TW" sz="2000" dirty="0"/>
                    </a:p>
                    <a:p>
                      <a:pPr algn="l"/>
                      <a:r>
                        <a:rPr lang="en-US" altLang="zh-TW" sz="2000" dirty="0"/>
                        <a:t>2</a:t>
                      </a:r>
                      <a:r>
                        <a:rPr lang="zh-TW" altLang="en-US" sz="2000" dirty="0"/>
                        <a:t>、</a:t>
                      </a:r>
                      <a:r>
                        <a:rPr lang="en-US" altLang="zh-TW" sz="2000" dirty="0"/>
                        <a:t>VPN or SSH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0627442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 Internal Internet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Turn to </a:t>
                      </a:r>
                      <a:r>
                        <a:rPr lang="en-US" altLang="zh-TW" sz="2000" dirty="0" err="1"/>
                        <a:t>Joshevan</a:t>
                      </a:r>
                      <a:r>
                        <a:rPr lang="en-US" altLang="zh-TW" sz="2000" dirty="0"/>
                        <a:t> for help</a:t>
                      </a:r>
                      <a:br>
                        <a:rPr lang="en-US" altLang="zh-TW" sz="2000" dirty="0"/>
                      </a:br>
                      <a:endParaRPr lang="en-US" altLang="zh-TW" sz="2000" dirty="0"/>
                    </a:p>
                    <a:p>
                      <a:pPr algn="l"/>
                      <a:r>
                        <a:rPr lang="en-US" altLang="zh-TW" sz="2000" dirty="0"/>
                        <a:t>Get a file (This is yours. Never share it with others.) , Download </a:t>
                      </a:r>
                      <a:r>
                        <a:rPr lang="en-US" altLang="zh-TW" sz="2000" dirty="0" err="1"/>
                        <a:t>WireGuard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0202230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Check the VAIVA timetable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2000" dirty="0"/>
                        <a:t>Turn to </a:t>
                      </a:r>
                      <a:r>
                        <a:rPr lang="en-US" altLang="zh-TW" sz="2000" dirty="0" err="1"/>
                        <a:t>Tobby</a:t>
                      </a:r>
                      <a:r>
                        <a:rPr lang="en-US" altLang="zh-TW" sz="2000" dirty="0"/>
                        <a:t> for help.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19999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ACCB5DA-0CBC-4A5D-BA73-D3E9C2388C71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- 3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976848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5198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According to </a:t>
            </a:r>
            <a:r>
              <a:rPr lang="en-US" altLang="zh-TW" sz="4400" dirty="0" err="1">
                <a:sym typeface="PT Serif"/>
              </a:rPr>
              <a:t>Tobby’s</a:t>
            </a:r>
            <a:r>
              <a:rPr lang="en-US" altLang="zh-TW" sz="4400" dirty="0">
                <a:sym typeface="PT Serif"/>
              </a:rPr>
              <a:t> “Readme”, </a:t>
            </a:r>
            <a:r>
              <a:rPr lang="en-US" altLang="zh-TW" sz="4400" dirty="0"/>
              <a:t>Start running the experiment 1</a:t>
            </a:r>
            <a:br>
              <a:rPr lang="en-US" altLang="zh-TW" sz="4400" dirty="0"/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Fix some bugs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Check the timetable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Stop the program if necessary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Compare with the expected result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AF6312A-D7B0-426C-86C7-EDCA723D7067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- 4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173182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23130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 err="1">
                <a:sym typeface="PT Serif"/>
              </a:rPr>
              <a:t>UnicodeDecodeError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This was caused by a Chinese path.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  <a:endParaRPr lang="en-US" altLang="zh-TW" sz="44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3EC4304-E1F5-4488-AC23-746BBD387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4684228"/>
            <a:ext cx="12192001" cy="5524500"/>
          </a:xfrm>
          <a:prstGeom prst="rect">
            <a:avLst/>
          </a:prstGeom>
        </p:spPr>
      </p:pic>
      <p:sp>
        <p:nvSpPr>
          <p:cNvPr id="12" name="TextBox 4">
            <a:extLst>
              <a:ext uri="{FF2B5EF4-FFF2-40B4-BE49-F238E27FC236}">
                <a16:creationId xmlns:a16="http://schemas.microsoft.com/office/drawing/2014/main" id="{D9039798-9535-4953-BC33-23277FBB0DE7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- 5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385375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4044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Fix </a:t>
            </a:r>
            <a:r>
              <a:rPr lang="en-US" altLang="zh-TW" sz="4400" dirty="0" err="1">
                <a:sym typeface="PT Serif"/>
              </a:rPr>
              <a:t>UnicodeDecodeError</a:t>
            </a: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Open main.py by IDE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In option </a:t>
            </a:r>
            <a:r>
              <a:rPr lang="en-US" altLang="zh-TW" sz="4400" dirty="0" err="1">
                <a:sym typeface="PT Serif"/>
              </a:rPr>
              <a:t>manu</a:t>
            </a:r>
            <a:r>
              <a:rPr lang="en-US" altLang="zh-TW" sz="4400" dirty="0">
                <a:sym typeface="PT Serif"/>
              </a:rPr>
              <a:t>, select “view the line”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Fix</a:t>
            </a:r>
            <a:r>
              <a:rPr lang="en-US" altLang="zh-TW" sz="4400" dirty="0"/>
              <a:t> the code to the line.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BB13030D-464A-42D2-823B-BF51F603F1B3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- 6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529079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A0329AC8-85BC-4506-A952-12EDB0DAEA3E}"/>
              </a:ext>
            </a:extLst>
          </p:cNvPr>
          <p:cNvSpPr txBox="1"/>
          <p:nvPr/>
        </p:nvSpPr>
        <p:spPr>
          <a:xfrm>
            <a:off x="1059180" y="2657687"/>
            <a:ext cx="16085820" cy="23130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Original </a:t>
            </a:r>
          </a:p>
          <a:p>
            <a:pPr marL="571500" indent="-571500" algn="l">
              <a:lnSpc>
                <a:spcPts val="4480"/>
              </a:lnSpc>
              <a:buFont typeface="Arial" panose="020B0604020202020204" pitchFamily="34" charset="0"/>
              <a:buChar char="•"/>
            </a:pPr>
            <a:endParaRPr lang="en-US" altLang="zh-TW" sz="4400" dirty="0">
              <a:sym typeface="PT Serif"/>
            </a:endParaRPr>
          </a:p>
          <a:p>
            <a:pPr lvl="1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with open('config/</a:t>
            </a:r>
            <a:r>
              <a:rPr lang="en-US" altLang="zh-TW" sz="4400" dirty="0" err="1">
                <a:sym typeface="PT Serif"/>
              </a:rPr>
              <a:t>config.yaml</a:t>
            </a:r>
            <a:r>
              <a:rPr lang="en-US" altLang="zh-TW" sz="4400" dirty="0">
                <a:sym typeface="PT Serif"/>
              </a:rPr>
              <a:t>') as file:</a:t>
            </a:r>
          </a:p>
          <a:p>
            <a:pPr lvl="1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</a:t>
            </a:r>
            <a:r>
              <a:rPr lang="en-US" altLang="zh-TW" sz="4400" dirty="0" err="1">
                <a:sym typeface="PT Serif"/>
              </a:rPr>
              <a:t>setup_config</a:t>
            </a:r>
            <a:r>
              <a:rPr lang="en-US" altLang="zh-TW" sz="4400" dirty="0">
                <a:sym typeface="PT Serif"/>
              </a:rPr>
              <a:t> = </a:t>
            </a:r>
            <a:r>
              <a:rPr lang="en-US" altLang="zh-TW" sz="4400" dirty="0" err="1">
                <a:sym typeface="PT Serif"/>
              </a:rPr>
              <a:t>yaml.safe_load</a:t>
            </a:r>
            <a:r>
              <a:rPr lang="en-US" altLang="zh-TW" sz="4400" dirty="0">
                <a:sym typeface="PT Serif"/>
              </a:rPr>
              <a:t>(file)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90CF8E08-75F3-4A82-A2FA-5C4F78AF225A}"/>
              </a:ext>
            </a:extLst>
          </p:cNvPr>
          <p:cNvSpPr txBox="1"/>
          <p:nvPr/>
        </p:nvSpPr>
        <p:spPr>
          <a:xfrm>
            <a:off x="1028700" y="6210300"/>
            <a:ext cx="16085820" cy="23130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adjusted </a:t>
            </a:r>
          </a:p>
          <a:p>
            <a:pPr marL="571500" indent="-571500" algn="l">
              <a:lnSpc>
                <a:spcPts val="4480"/>
              </a:lnSpc>
              <a:buFont typeface="Arial" panose="020B0604020202020204" pitchFamily="34" charset="0"/>
              <a:buChar char="•"/>
            </a:pPr>
            <a:endParaRPr lang="en-US" altLang="zh-TW" sz="4400" dirty="0">
              <a:sym typeface="PT Serif"/>
            </a:endParaRPr>
          </a:p>
          <a:p>
            <a:pPr lvl="1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with open('config/</a:t>
            </a:r>
            <a:r>
              <a:rPr lang="en-US" altLang="zh-TW" sz="4400" dirty="0" err="1">
                <a:sym typeface="PT Serif"/>
              </a:rPr>
              <a:t>config.yaml</a:t>
            </a:r>
            <a:r>
              <a:rPr lang="en-US" altLang="zh-TW" sz="4400" dirty="0">
                <a:sym typeface="PT Serif"/>
              </a:rPr>
              <a:t>', encoding='utf-8') as file:</a:t>
            </a:r>
          </a:p>
          <a:p>
            <a:pPr lvl="1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</a:t>
            </a:r>
            <a:r>
              <a:rPr lang="en-US" altLang="zh-TW" sz="4400" dirty="0" err="1">
                <a:sym typeface="PT Serif"/>
              </a:rPr>
              <a:t>setup_config</a:t>
            </a:r>
            <a:r>
              <a:rPr lang="en-US" altLang="zh-TW" sz="4400" dirty="0">
                <a:sym typeface="PT Serif"/>
              </a:rPr>
              <a:t> = </a:t>
            </a:r>
            <a:r>
              <a:rPr lang="en-US" altLang="zh-TW" sz="4400" dirty="0" err="1">
                <a:sym typeface="PT Serif"/>
              </a:rPr>
              <a:t>yaml.safe_load</a:t>
            </a:r>
            <a:r>
              <a:rPr lang="en-US" altLang="zh-TW" sz="4400" dirty="0">
                <a:sym typeface="PT Serif"/>
              </a:rPr>
              <a:t>(file)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302B8EC7-DB82-4FFF-8D62-C9D8C1104A9E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- 7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4254307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4044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  <a:hlinkClick r:id="rId2"/>
              </a:rPr>
              <a:t>Check timetable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At the same time, only one person can use the simulator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When encountering bugs</a:t>
            </a:r>
            <a:r>
              <a:rPr lang="en-US" altLang="zh-TW" sz="4400" dirty="0">
                <a:sym typeface="PT Serif"/>
              </a:rPr>
              <a:t>, s</a:t>
            </a:r>
            <a:r>
              <a:rPr lang="en-US" altLang="zh-TW" sz="4400" dirty="0"/>
              <a:t>top the program in the terminal</a:t>
            </a:r>
            <a:r>
              <a:rPr lang="en-US" altLang="zh-TW" sz="4400" dirty="0">
                <a:sym typeface="PT Serif"/>
              </a:rPr>
              <a:t> </a:t>
            </a: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            (Ctrl +C), then the environment will be reset, which p</a:t>
            </a:r>
            <a:r>
              <a:rPr lang="en-US" altLang="zh-TW" sz="4400" dirty="0"/>
              <a:t>revent all 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/>
              <a:t>            events from entering a loop.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53CF192-A245-48F2-BB9F-49049C8CE926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- 8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989765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619220" cy="462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compare the result (</a:t>
            </a:r>
            <a:r>
              <a:rPr lang="en-US" altLang="zh-TW" sz="4400" dirty="0" err="1">
                <a:sym typeface="PT Serif"/>
              </a:rPr>
              <a:t>same_area_uniform</a:t>
            </a:r>
            <a:r>
              <a:rPr lang="en-US" altLang="zh-TW" sz="4400" dirty="0">
                <a:sym typeface="PT Serif"/>
              </a:rPr>
              <a:t>)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I can’t view the picture through VS code, so open in folder directly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Compare the file name carefully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Understand the meaning of the result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7F40B59C-2BA6-4E9A-8543-0F50E2B17BFB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- 9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148596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A652C1C-2877-4CEB-9085-37115E5D5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7" y="5272690"/>
            <a:ext cx="8473441" cy="503717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F4101CD-C0B0-487C-97C8-EE52F3180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498" y="5188870"/>
            <a:ext cx="9706742" cy="5037170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0458F4-C14A-4C6F-AF06-DA88FE9A1BB2}"/>
              </a:ext>
            </a:extLst>
          </p:cNvPr>
          <p:cNvSpPr txBox="1"/>
          <p:nvPr/>
        </p:nvSpPr>
        <p:spPr>
          <a:xfrm>
            <a:off x="2027708" y="4411809"/>
            <a:ext cx="4482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Expected</a:t>
            </a:r>
            <a:endParaRPr lang="zh-TW" altLang="en-US" sz="44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90CAC52-E56B-450F-A42F-CCBA7B231700}"/>
              </a:ext>
            </a:extLst>
          </p:cNvPr>
          <p:cNvSpPr txBox="1"/>
          <p:nvPr/>
        </p:nvSpPr>
        <p:spPr>
          <a:xfrm>
            <a:off x="11778156" y="4457529"/>
            <a:ext cx="4482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Mine</a:t>
            </a:r>
            <a:endParaRPr lang="zh-TW" altLang="en-US" sz="4400" dirty="0"/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F23899C8-913A-450F-B270-453B75EEA01E}"/>
              </a:ext>
            </a:extLst>
          </p:cNvPr>
          <p:cNvSpPr txBox="1"/>
          <p:nvPr/>
        </p:nvSpPr>
        <p:spPr>
          <a:xfrm>
            <a:off x="457200" y="485174"/>
            <a:ext cx="172212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- 10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4212450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5198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Explain the abnormal result (</a:t>
            </a:r>
            <a:r>
              <a:rPr lang="en-US" altLang="zh-TW" sz="4400" dirty="0" err="1">
                <a:sym typeface="PT Serif"/>
              </a:rPr>
              <a:t>same_area_uniform</a:t>
            </a:r>
            <a:r>
              <a:rPr lang="en-US" altLang="zh-TW" sz="4400" dirty="0">
                <a:sym typeface="PT Serif"/>
              </a:rPr>
              <a:t>)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Experiment I (</a:t>
            </a:r>
            <a:r>
              <a:rPr lang="en-US" altLang="zh-TW" sz="4400" dirty="0" err="1"/>
              <a:t>strategyTestMode</a:t>
            </a:r>
            <a:r>
              <a:rPr lang="en-US" altLang="zh-TW" sz="4400" dirty="0"/>
              <a:t>: True</a:t>
            </a:r>
            <a:r>
              <a:rPr lang="en-US" altLang="zh-TW" sz="4400" dirty="0">
                <a:sym typeface="PT Serif"/>
              </a:rPr>
              <a:t>), verify the algorithm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The abnormal power-saving value was caused by missing 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/>
              <a:t>            </a:t>
            </a:r>
            <a:r>
              <a:rPr lang="en-US" altLang="zh-TW" sz="4400" dirty="0" err="1"/>
              <a:t>InfluxDB</a:t>
            </a:r>
            <a:r>
              <a:rPr lang="en-US" altLang="zh-TW" sz="4400" dirty="0"/>
              <a:t> power data (</a:t>
            </a:r>
            <a:r>
              <a:rPr lang="en-US" altLang="zh-TW" sz="4400" dirty="0" err="1"/>
              <a:t>CurrentPower</a:t>
            </a:r>
            <a:r>
              <a:rPr lang="en-US" altLang="zh-TW" sz="4400" dirty="0"/>
              <a:t> = 0)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899DDB0-465C-41BE-B9CB-AFC9B743F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817" y="7246162"/>
            <a:ext cx="16232865" cy="1771897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E3D24B47-752E-4D3D-8700-AFEF038FA2D2}"/>
              </a:ext>
            </a:extLst>
          </p:cNvPr>
          <p:cNvSpPr txBox="1"/>
          <p:nvPr/>
        </p:nvSpPr>
        <p:spPr>
          <a:xfrm>
            <a:off x="457200" y="485174"/>
            <a:ext cx="172212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- 11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55354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5405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619220" cy="462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compare the result (</a:t>
            </a:r>
            <a:r>
              <a:rPr lang="en-US" altLang="zh-TW" sz="4400" dirty="0" err="1">
                <a:sym typeface="PT Serif"/>
              </a:rPr>
              <a:t>PMdiff_uniform</a:t>
            </a:r>
            <a:r>
              <a:rPr lang="en-US" altLang="zh-TW" sz="4400" dirty="0">
                <a:sym typeface="PT Serif"/>
              </a:rPr>
              <a:t>)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I can’t view the picture through VS code, so open in folder directly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Compare the file name carefully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Understand the meaning of the result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D5D6594B-AD70-4A49-B034-A454FA2705A9}"/>
              </a:ext>
            </a:extLst>
          </p:cNvPr>
          <p:cNvSpPr txBox="1"/>
          <p:nvPr/>
        </p:nvSpPr>
        <p:spPr>
          <a:xfrm>
            <a:off x="457200" y="485174"/>
            <a:ext cx="172212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- 12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40133004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0458F4-C14A-4C6F-AF06-DA88FE9A1BB2}"/>
              </a:ext>
            </a:extLst>
          </p:cNvPr>
          <p:cNvSpPr txBox="1"/>
          <p:nvPr/>
        </p:nvSpPr>
        <p:spPr>
          <a:xfrm>
            <a:off x="2027706" y="3314700"/>
            <a:ext cx="4482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Expected</a:t>
            </a:r>
            <a:endParaRPr lang="zh-TW" altLang="en-US" sz="44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90CAC52-E56B-450F-A42F-CCBA7B231700}"/>
              </a:ext>
            </a:extLst>
          </p:cNvPr>
          <p:cNvSpPr txBox="1"/>
          <p:nvPr/>
        </p:nvSpPr>
        <p:spPr>
          <a:xfrm>
            <a:off x="11778156" y="3162300"/>
            <a:ext cx="4482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TW" sz="4400" dirty="0">
                <a:sym typeface="PT Serif"/>
              </a:rPr>
              <a:t>Mine</a:t>
            </a:r>
            <a:endParaRPr lang="zh-TW" altLang="en-US" sz="44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18CE02E5-9488-4C9F-9B00-823D44F50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" y="4132009"/>
            <a:ext cx="8106455" cy="603723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47EA0DE1-EE2E-475E-8366-0BE12A100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3931741"/>
            <a:ext cx="9518215" cy="6077481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FCF39E04-51A8-44B6-B131-0CAAC0FA94C6}"/>
              </a:ext>
            </a:extLst>
          </p:cNvPr>
          <p:cNvSpPr txBox="1"/>
          <p:nvPr/>
        </p:nvSpPr>
        <p:spPr>
          <a:xfrm>
            <a:off x="380999" y="485174"/>
            <a:ext cx="17297401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- 13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4171618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457200" y="2933700"/>
            <a:ext cx="17145000" cy="5775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Explain the result(</a:t>
            </a:r>
            <a:r>
              <a:rPr lang="en-US" altLang="zh-TW" sz="4400" dirty="0" err="1">
                <a:sym typeface="PT Serif"/>
              </a:rPr>
              <a:t>PMdiff_uniform</a:t>
            </a:r>
            <a:r>
              <a:rPr lang="en-US" altLang="zh-TW" sz="4400" dirty="0">
                <a:sym typeface="PT Serif"/>
              </a:rPr>
              <a:t>)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The trend is identical to expected result, some slightly 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    differences are caused by the </a:t>
            </a:r>
            <a:r>
              <a:rPr lang="en-US" altLang="zh-TW" sz="4400" dirty="0" err="1"/>
              <a:t>the</a:t>
            </a:r>
            <a:r>
              <a:rPr lang="en-US" altLang="zh-TW" sz="4400" dirty="0"/>
              <a:t> simulator's randomness</a:t>
            </a:r>
            <a:br>
              <a:rPr lang="en-US" altLang="zh-TW" sz="4400" dirty="0">
                <a:sym typeface="PT Serif"/>
              </a:rPr>
            </a:b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The “uniform” means each UE’s </a:t>
            </a:r>
            <a:r>
              <a:rPr lang="en-US" altLang="zh-TW" sz="4400" dirty="0"/>
              <a:t>power consumption </a:t>
            </a:r>
            <a:r>
              <a:rPr lang="en-US" altLang="zh-TW" sz="4400" dirty="0">
                <a:sym typeface="PT Serif"/>
              </a:rPr>
              <a:t>is the same,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     </a:t>
            </a:r>
            <a:r>
              <a:rPr lang="en-US" altLang="zh-TW" sz="4400" dirty="0"/>
              <a:t>the independent variable is the area</a:t>
            </a:r>
            <a:r>
              <a:rPr lang="en-US" altLang="zh-TW" sz="4400" dirty="0">
                <a:sym typeface="PT Serif"/>
              </a:rPr>
              <a:t>.</a:t>
            </a: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     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The former is UEs in the same area, the latter is UEs in different area.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56030F74-DF4A-41FF-896F-CD25B285EECF}"/>
              </a:ext>
            </a:extLst>
          </p:cNvPr>
          <p:cNvSpPr txBox="1"/>
          <p:nvPr/>
        </p:nvSpPr>
        <p:spPr>
          <a:xfrm>
            <a:off x="152400" y="485174"/>
            <a:ext cx="175260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- 14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519934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762000" y="2948568"/>
            <a:ext cx="17145000" cy="462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Next step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Timetable is reserved by the seniors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 </a:t>
            </a:r>
            <a:r>
              <a:rPr lang="en-US" altLang="zh-TW" sz="4400" dirty="0"/>
              <a:t>The simulation takes a lot of time </a:t>
            </a:r>
            <a:r>
              <a:rPr lang="en-US" altLang="zh-TW" sz="4400" dirty="0">
                <a:sym typeface="PT Serif"/>
              </a:rPr>
              <a:t>(about 5hrs in generating data)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	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Reference </a:t>
            </a:r>
            <a:r>
              <a:rPr lang="en-US" altLang="zh-TW" sz="4400" dirty="0" err="1">
                <a:sym typeface="PT Serif"/>
              </a:rPr>
              <a:t>Tobby’s</a:t>
            </a:r>
            <a:r>
              <a:rPr lang="en-US" altLang="zh-TW" sz="4400" dirty="0">
                <a:sym typeface="PT Serif"/>
              </a:rPr>
              <a:t> result and </a:t>
            </a:r>
            <a:r>
              <a:rPr lang="en-US" altLang="zh-TW" sz="4400" dirty="0"/>
              <a:t>draw conclusions directly</a:t>
            </a:r>
            <a:r>
              <a:rPr lang="en-US" altLang="zh-TW" sz="4400" dirty="0">
                <a:sym typeface="PT Serif"/>
              </a:rPr>
              <a:t>, as </a:t>
            </a: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        </a:t>
            </a:r>
            <a:r>
              <a:rPr lang="en-US" altLang="zh-TW" sz="4400" dirty="0"/>
              <a:t>background knowledge</a:t>
            </a:r>
            <a:endParaRPr lang="en-US" altLang="zh-TW" sz="4400" dirty="0">
              <a:sym typeface="PT Serif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686D6A34-6593-4EF5-828B-5639A16AE317}"/>
              </a:ext>
            </a:extLst>
          </p:cNvPr>
          <p:cNvSpPr txBox="1"/>
          <p:nvPr/>
        </p:nvSpPr>
        <p:spPr>
          <a:xfrm>
            <a:off x="533400" y="485174"/>
            <a:ext cx="171450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- 15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1797096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53000" y="-464344"/>
            <a:ext cx="11050578" cy="108656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4320"/>
              </a:lnSpc>
            </a:pPr>
            <a:endParaRPr/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D56C1157-D07D-4775-806B-5EC9BB7BD308}"/>
              </a:ext>
            </a:extLst>
          </p:cNvPr>
          <p:cNvSpPr txBox="1"/>
          <p:nvPr/>
        </p:nvSpPr>
        <p:spPr>
          <a:xfrm>
            <a:off x="1059180" y="2933700"/>
            <a:ext cx="16085820" cy="578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Timetable is reserved by the seniors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8252864-88C2-4231-8B9B-0A3AE44B0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99" y="3525148"/>
            <a:ext cx="14496841" cy="5733152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0842810F-811F-4230-8BA7-7008C9ABEA67}"/>
              </a:ext>
            </a:extLst>
          </p:cNvPr>
          <p:cNvSpPr txBox="1"/>
          <p:nvPr/>
        </p:nvSpPr>
        <p:spPr>
          <a:xfrm>
            <a:off x="457200" y="485174"/>
            <a:ext cx="172212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Replicate </a:t>
            </a:r>
            <a:r>
              <a:rPr lang="en-US" altLang="zh-TW" sz="9600" b="1" dirty="0" err="1"/>
              <a:t>Tobby’s</a:t>
            </a:r>
            <a:r>
              <a:rPr lang="en-US" altLang="zh-TW" sz="9600" b="1" dirty="0"/>
              <a:t> experiment</a:t>
            </a:r>
            <a:r>
              <a:rPr lang="en-US" altLang="zh-TW" sz="9600" b="1" dirty="0">
                <a:sym typeface="PT Serif"/>
              </a:rPr>
              <a:t> - 16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2021705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714500" y="2758231"/>
            <a:ext cx="14859000" cy="4770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altLang="zh-TW" sz="11500" b="1" dirty="0"/>
              <a:t>Reach out to TEEP David</a:t>
            </a:r>
            <a:br>
              <a:rPr lang="en-US" altLang="zh-TW" sz="11500" b="1" dirty="0"/>
            </a:br>
            <a:br>
              <a:rPr lang="en-US" altLang="zh-TW" sz="11500" b="1" dirty="0"/>
            </a:br>
            <a:r>
              <a:rPr lang="en-US" altLang="zh-TW" sz="11500" b="1" dirty="0"/>
              <a:t>Time schedule</a:t>
            </a:r>
            <a:endParaRPr lang="en-US" altLang="zh-TW" sz="144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1E2E5F33-0216-457E-96F3-FE59F7173952}"/>
              </a:ext>
            </a:extLst>
          </p:cNvPr>
          <p:cNvSpPr txBox="1"/>
          <p:nvPr/>
        </p:nvSpPr>
        <p:spPr>
          <a:xfrm>
            <a:off x="8153400" y="4426733"/>
            <a:ext cx="2895600" cy="1433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7200" b="1" dirty="0"/>
              <a:t>and</a:t>
            </a:r>
            <a:endParaRPr lang="en-US" altLang="zh-TW" sz="88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3511455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2B5EF56-491D-42BC-92D5-C01AE2B7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42900"/>
            <a:ext cx="17574370" cy="975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8154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BCE56D-14D8-4A76-9B55-88E0861229F1}"/>
              </a:ext>
            </a:extLst>
          </p:cNvPr>
          <p:cNvSpPr txBox="1"/>
          <p:nvPr/>
        </p:nvSpPr>
        <p:spPr>
          <a:xfrm>
            <a:off x="2590800" y="4348410"/>
            <a:ext cx="12725400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altLang="zh-TW" sz="11500" b="1" dirty="0"/>
              <a:t>Pending works</a:t>
            </a:r>
            <a:endParaRPr lang="en-US" altLang="zh-TW" sz="144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</p:spTree>
    <p:extLst>
      <p:ext uri="{BB962C8B-B14F-4D97-AF65-F5344CB8AC3E}">
        <p14:creationId xmlns:p14="http://schemas.microsoft.com/office/powerpoint/2010/main" val="39640110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F89CE75D-472A-4163-BCC5-3006CF325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532645"/>
              </p:ext>
            </p:extLst>
          </p:nvPr>
        </p:nvGraphicFramePr>
        <p:xfrm>
          <a:off x="152400" y="3239519"/>
          <a:ext cx="17983200" cy="6535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2509853637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212627666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4210230158"/>
                    </a:ext>
                  </a:extLst>
                </a:gridCol>
                <a:gridCol w="7162800">
                  <a:extLst>
                    <a:ext uri="{9D8B030D-6E8A-4147-A177-3AD203B41FA5}">
                      <a16:colId xmlns:a16="http://schemas.microsoft.com/office/drawing/2014/main" val="762775784"/>
                    </a:ext>
                  </a:extLst>
                </a:gridCol>
              </a:tblGrid>
              <a:tr h="92994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Priority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Things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Impact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Plan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9253063"/>
                  </a:ext>
                </a:extLst>
              </a:tr>
              <a:tr h="92190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Reading David </a:t>
                      </a:r>
                      <a:r>
                        <a:rPr lang="en-US" altLang="zh-TW" sz="2800" dirty="0" err="1"/>
                        <a:t>StudyNotes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The clarity of the topic  -&gt; the progress after the new semester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Like replicating </a:t>
                      </a:r>
                      <a:r>
                        <a:rPr lang="en-US" altLang="zh-TW" sz="2800" dirty="0" err="1"/>
                        <a:t>Tobby's</a:t>
                      </a:r>
                      <a:r>
                        <a:rPr lang="en-US" altLang="zh-TW" sz="2800" dirty="0"/>
                        <a:t> experiment, use same approach to learn on 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963636"/>
                  </a:ext>
                </a:extLst>
              </a:tr>
              <a:tr h="7245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Do the </a:t>
                      </a:r>
                      <a:r>
                        <a:rPr lang="en-US" altLang="zh-TW" sz="2800" dirty="0" err="1"/>
                        <a:t>StudyNotes</a:t>
                      </a:r>
                      <a:r>
                        <a:rPr lang="en-US" altLang="zh-TW" sz="2800" dirty="0"/>
                        <a:t> on </a:t>
                      </a:r>
                      <a:r>
                        <a:rPr lang="en-US" altLang="zh-TW" sz="2800" dirty="0" err="1"/>
                        <a:t>github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Check my progress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Post it firstly, Check its quality afterwards</a:t>
                      </a:r>
                      <a:endParaRPr lang="zh-TW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250787"/>
                  </a:ext>
                </a:extLst>
              </a:tr>
              <a:tr h="808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progress after the new semester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My GPA and future opportunities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Finish David's </a:t>
                      </a:r>
                      <a:r>
                        <a:rPr lang="en-US" altLang="zh-TW" sz="2800" dirty="0" err="1"/>
                        <a:t>StudyNotes</a:t>
                      </a:r>
                      <a:r>
                        <a:rPr lang="en-US" altLang="zh-TW" sz="2800" dirty="0"/>
                        <a:t> first</a:t>
                      </a:r>
                      <a:endParaRPr lang="zh-TW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210663"/>
                  </a:ext>
                </a:extLst>
              </a:tr>
              <a:tr h="78033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Lab architecture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Resources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Review the files in LINE or talk with the seniors</a:t>
                      </a:r>
                      <a:endParaRPr lang="zh-TW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935081"/>
                  </a:ext>
                </a:extLst>
              </a:tr>
              <a:tr h="11054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Discuss with prof. Gu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/>
                        <a:t>The clarity </a:t>
                      </a:r>
                      <a:r>
                        <a:rPr lang="en-US" altLang="zh-TW" sz="2800" dirty="0"/>
                        <a:t>of the topic and future opportunities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Finish David </a:t>
                      </a:r>
                      <a:r>
                        <a:rPr lang="en-US" altLang="zh-TW" sz="2800" dirty="0" err="1"/>
                        <a:t>Studynotes</a:t>
                      </a:r>
                      <a:r>
                        <a:rPr lang="en-US" altLang="zh-TW" sz="2800" dirty="0"/>
                        <a:t> first so that I really understand what I need to do</a:t>
                      </a:r>
                      <a:endParaRPr lang="zh-TW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6758485"/>
                  </a:ext>
                </a:extLst>
              </a:tr>
              <a:tr h="11054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Take course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Future opportunities</a:t>
                      </a:r>
                      <a:endParaRPr lang="zh-TW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800" dirty="0"/>
                        <a:t>Wait for the notice in August on LINE group</a:t>
                      </a:r>
                      <a:endParaRPr lang="zh-TW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3781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CE7C0A0-0864-4FA0-AD31-54F8872D6AED}"/>
              </a:ext>
            </a:extLst>
          </p:cNvPr>
          <p:cNvSpPr txBox="1"/>
          <p:nvPr/>
        </p:nvSpPr>
        <p:spPr>
          <a:xfrm>
            <a:off x="-1066800" y="124321"/>
            <a:ext cx="112014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altLang="zh-TW" sz="9600" b="1" dirty="0"/>
              <a:t>Pending works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E6BC7F3-1900-43E7-8939-54335B769E26}"/>
              </a:ext>
            </a:extLst>
          </p:cNvPr>
          <p:cNvSpPr txBox="1"/>
          <p:nvPr/>
        </p:nvSpPr>
        <p:spPr>
          <a:xfrm>
            <a:off x="838200" y="2140508"/>
            <a:ext cx="16085820" cy="595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800" dirty="0"/>
              <a:t>-&gt; This organization comes from my Git.</a:t>
            </a:r>
            <a:endParaRPr lang="en-US" altLang="zh-TW" sz="48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2463182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</TotalTime>
  <Words>922</Words>
  <Application>Microsoft Office PowerPoint</Application>
  <PresentationFormat>自訂</PresentationFormat>
  <Paragraphs>151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27" baseType="lpstr">
      <vt:lpstr>Roboto Bold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ABOUT ME</dc:title>
  <dc:creator>徐銘亨</dc:creator>
  <cp:lastModifiedBy>徐 銘亨</cp:lastModifiedBy>
  <cp:revision>46</cp:revision>
  <dcterms:created xsi:type="dcterms:W3CDTF">2006-08-16T00:00:00Z</dcterms:created>
  <dcterms:modified xsi:type="dcterms:W3CDTF">2026-07-28T01:04:27Z</dcterms:modified>
  <dc:identifier>DAHOJUz7LTQ</dc:identifier>
</cp:coreProperties>
</file>