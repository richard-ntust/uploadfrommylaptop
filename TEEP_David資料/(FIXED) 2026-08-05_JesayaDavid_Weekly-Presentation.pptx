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62" r:id="rId9"/>
    <p:sldId id="273" r:id="rId10"/>
    <p:sldId id="263" r:id="rId11"/>
    <p:sldId id="274" r:id="rId12"/>
    <p:sldId id="265" r:id="rId13"/>
    <p:sldId id="264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399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3666400395602724"/>
          <c:y val="3.7606837606837605E-2"/>
          <c:w val="0.64495918444976985"/>
          <c:h val="0.85452991452991456"/>
        </c:manualLayout>
      </c:layout>
      <c:barChart>
        <c:barDir val="bar"/>
        <c:grouping val="clustered"/>
        <c:varyColors val="0"/>
        <c:ser>
          <c:idx val="0"/>
          <c:order val="0"/>
          <c:tx>
            <c:v>Delivered throughput (Mbps)</c:v>
          </c:tx>
          <c:spPr>
            <a:solidFill>
              <a:srgbClr val="6594F4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A9C3FA"/>
              </a:solidFill>
            </c:spPr>
            <c:extLst>
              <c:ext xmlns:c16="http://schemas.microsoft.com/office/drawing/2014/chart" uri="{C3380CC4-5D6E-409C-BE32-E72D297353CC}">
                <c16:uniqueId val="{00000001-8D4B-4E18-8095-66040C815432}"/>
              </c:ext>
            </c:extLst>
          </c:dPt>
          <c:dPt>
            <c:idx val="1"/>
            <c:invertIfNegative val="0"/>
            <c:bubble3D val="0"/>
            <c:spPr>
              <a:solidFill>
                <a:srgbClr val="7FA5F7"/>
              </a:solidFill>
            </c:spPr>
            <c:extLst>
              <c:ext xmlns:c16="http://schemas.microsoft.com/office/drawing/2014/chart" uri="{C3380CC4-5D6E-409C-BE32-E72D297353CC}">
                <c16:uniqueId val="{00000003-8D4B-4E18-8095-66040C815432}"/>
              </c:ext>
            </c:extLst>
          </c:dPt>
          <c:dPt>
            <c:idx val="2"/>
            <c:invertIfNegative val="0"/>
            <c:bubble3D val="0"/>
            <c:spPr>
              <a:solidFill>
                <a:srgbClr val="3E73A5"/>
              </a:solidFill>
            </c:spPr>
            <c:extLst>
              <c:ext xmlns:c16="http://schemas.microsoft.com/office/drawing/2014/chart" uri="{C3380CC4-5D6E-409C-BE32-E72D297353CC}">
                <c16:uniqueId val="{00000005-8D4B-4E18-8095-66040C815432}"/>
              </c:ext>
            </c:extLst>
          </c:dPt>
          <c:dPt>
            <c:idx val="3"/>
            <c:invertIfNegative val="0"/>
            <c:bubble3D val="0"/>
            <c:spPr>
              <a:solidFill>
                <a:srgbClr val="0B0B67"/>
              </a:solidFill>
            </c:spPr>
            <c:extLst>
              <c:ext xmlns:c16="http://schemas.microsoft.com/office/drawing/2014/chart" uri="{C3380CC4-5D6E-409C-BE32-E72D297353CC}">
                <c16:uniqueId val="{00000007-8D4B-4E18-8095-66040C81543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0B0B6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27 PRB</c:v>
              </c:pt>
              <c:pt idx="1">
                <c:v>54 PRB</c:v>
              </c:pt>
              <c:pt idx="2">
                <c:v>104 PRB</c:v>
              </c:pt>
              <c:pt idx="3">
                <c:v>OAI latest</c:v>
              </c:pt>
            </c:strLit>
          </c:cat>
          <c:val>
            <c:numLit>
              <c:formatCode>General</c:formatCode>
              <c:ptCount val="4"/>
              <c:pt idx="0">
                <c:v>95.600999999999999</c:v>
              </c:pt>
              <c:pt idx="1">
                <c:v>191.58500000000001</c:v>
              </c:pt>
              <c:pt idx="2">
                <c:v>362.05200000000002</c:v>
              </c:pt>
              <c:pt idx="3">
                <c:v>760.71500000000003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8D4B-4E18-8095-66040C8154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ID" dirty="0"/>
                  <a:t>Delivered throughput (Mbps)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4F5775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 b="1">
                <a:solidFill>
                  <a:srgbClr val="0B0B67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FFFFF"/>
        </a:solidFill>
        <a:ln w="9525">
          <a:solidFill>
            <a:srgbClr val="DCE5FA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0655874933109089"/>
          <c:y val="3.2231638418079099E-2"/>
          <c:w val="0.86272927655887688"/>
          <c:h val="0.76556719604964629"/>
        </c:manualLayout>
      </c:layout>
      <c:scatterChart>
        <c:scatterStyle val="lineMarker"/>
        <c:varyColors val="1"/>
        <c:ser>
          <c:idx val="0"/>
          <c:order val="0"/>
          <c:tx>
            <c:v>Complete baseline</c:v>
          </c:tx>
          <c:spPr>
            <a:ln w="0">
              <a:solidFill>
                <a:srgbClr val="2F9E95"/>
              </a:solidFill>
              <a:prstDash val="solid"/>
            </a:ln>
          </c:spPr>
          <c:marker>
            <c:symbol val="circle"/>
            <c:size val="11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50" b="1">
                        <a:solidFill>
                          <a:srgbClr val="11152F"/>
                        </a:solidFill>
                      </a:rPr>
                      <a:t>100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E5E0-4B1B-8AF0-24265EE73A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50" b="1">
                        <a:solidFill>
                          <a:srgbClr val="11152F"/>
                        </a:solidFill>
                      </a:rPr>
                      <a:t>200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5E0-4B1B-8AF0-24265EE73A7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050" b="1">
                        <a:solidFill>
                          <a:srgbClr val="11152F"/>
                        </a:solidFill>
                      </a:rPr>
                      <a:t>400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E5E0-4B1B-8AF0-24265EE73A7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050" b="1">
                        <a:solidFill>
                          <a:srgbClr val="11152F"/>
                        </a:solidFill>
                      </a:rPr>
                      <a:t>500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5E0-4B1B-8AF0-24265EE73A7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4"/>
              <c:pt idx="0">
                <c:v>100.00766560105373</c:v>
              </c:pt>
              <c:pt idx="1">
                <c:v>200.00748807078571</c:v>
              </c:pt>
              <c:pt idx="2">
                <c:v>399.49800385606636</c:v>
              </c:pt>
              <c:pt idx="3">
                <c:v>495.06630179334059</c:v>
              </c:pt>
            </c:numLit>
          </c:xVal>
          <c:yVal>
            <c:numLit>
              <c:formatCode>0.0</c:formatCode>
              <c:ptCount val="4"/>
              <c:pt idx="0">
                <c:v>40.594000000000001</c:v>
              </c:pt>
              <c:pt idx="1">
                <c:v>40.991999999999997</c:v>
              </c:pt>
              <c:pt idx="2">
                <c:v>41.326000000000001</c:v>
              </c:pt>
              <c:pt idx="3">
                <c:v>42.015000000000001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4-E5E0-4B1B-8AF0-24265EE73A7B}"/>
            </c:ext>
          </c:extLst>
        </c:ser>
        <c:ser>
          <c:idx val="1"/>
          <c:order val="1"/>
          <c:tx>
            <c:v>Incomplete diagnostic</c:v>
          </c:tx>
          <c:spPr>
            <a:ln w="0">
              <a:solidFill>
                <a:srgbClr val="F28E3B"/>
              </a:solidFill>
              <a:prstDash val="solid"/>
            </a:ln>
          </c:spPr>
          <c:marker>
            <c:symbol val="diamond"/>
            <c:size val="11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1050" b="1">
                        <a:solidFill>
                          <a:srgbClr val="8A5100"/>
                        </a:solidFill>
                      </a:rPr>
                      <a:t>300*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E5E0-4B1B-8AF0-24265EE73A7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050" b="1">
                        <a:solidFill>
                          <a:srgbClr val="8A5100"/>
                        </a:solidFill>
                      </a:rPr>
                      <a:t>600*</a:t>
                    </a:r>
                  </a:p>
                </c:rich>
              </c:tx>
              <c:spPr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E5E0-4B1B-8AF0-24265EE73A7B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2"/>
              <c:pt idx="0">
                <c:v>299.97592252301405</c:v>
              </c:pt>
              <c:pt idx="1">
                <c:v>549.11198577070377</c:v>
              </c:pt>
            </c:numLit>
          </c:xVal>
          <c:yVal>
            <c:numLit>
              <c:formatCode>0.0</c:formatCode>
              <c:ptCount val="2"/>
              <c:pt idx="0">
                <c:v>41.02</c:v>
              </c:pt>
              <c:pt idx="1">
                <c:v>41.953333333333333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7-E5E0-4B1B-8AF0-24265EE73A7B}"/>
            </c:ext>
          </c:extLst>
        </c:ser>
        <c:ser>
          <c:idx val="2"/>
          <c:order val="2"/>
          <c:tx>
            <c:v>Complete-run fit</c:v>
          </c:tx>
          <c:spPr>
            <a:ln w="28575">
              <a:solidFill>
                <a:srgbClr val="0B0B6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100.00766560105373</c:v>
              </c:pt>
              <c:pt idx="1">
                <c:v>495.06630179334059</c:v>
              </c:pt>
            </c:numLit>
          </c:xVal>
          <c:yVal>
            <c:numLit>
              <c:formatCode>0.0</c:formatCode>
              <c:ptCount val="2"/>
              <c:pt idx="0">
                <c:v>40.595504551387052</c:v>
              </c:pt>
              <c:pt idx="1">
                <c:v>41.860798351383707</c:v>
              </c:pt>
            </c:numLit>
          </c:yVal>
          <c:smooth val="1"/>
          <c:extLst>
            <c:ext xmlns:c16="http://schemas.microsoft.com/office/drawing/2014/chart" uri="{C3380CC4-5D6E-409C-BE32-E72D297353CC}">
              <c16:uniqueId val="{00000008-E5E0-4B1B-8AF0-24265EE73A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2.5"/>
          <c:min val="40"/>
        </c:scaling>
        <c:delete val="0"/>
        <c:axPos val="l"/>
        <c:majorGridlines>
          <c:spPr>
            <a:ln w="9525">
              <a:solidFill>
                <a:srgbClr val="D9E3F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 b="1">
                    <a:solidFill>
                      <a:srgbClr val="11152F"/>
                    </a:solidFill>
                  </a:rPr>
                  <a:t>Mean O-RU active power (W)</a:t>
                </a:r>
              </a:p>
            </c:rich>
          </c:tx>
          <c:layout>
            <c:manualLayout>
              <c:xMode val="edge"/>
              <c:yMode val="edge"/>
              <c:x val="1.0266926585633109E-2"/>
              <c:y val="0.16142065928199653"/>
            </c:manualLayout>
          </c:layout>
          <c:overlay val="1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4F5775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4F5775"/>
                </a:solidFill>
              </a:defRPr>
            </a:pPr>
            <a:endParaRPr lang="en-US"/>
          </a:p>
        </c:txPr>
        <c:crossAx val="48650112"/>
        <c:crosses val="autoZero"/>
        <c:crossBetween val="midCat"/>
        <c:majorUnit val="0.5"/>
      </c:valAx>
      <c:valAx>
        <c:axId val="48650112"/>
        <c:scaling>
          <c:orientation val="minMax"/>
          <c:max val="600"/>
          <c:min val="0"/>
        </c:scaling>
        <c:delete val="0"/>
        <c:axPos val="b"/>
        <c:majorGridlines>
          <c:spPr>
            <a:ln w="9525">
              <a:solidFill>
                <a:srgbClr val="D9E3F8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ID" sz="1275" b="1">
                    <a:solidFill>
                      <a:srgbClr val="11152F"/>
                    </a:solidFill>
                  </a:rPr>
                  <a:t>Delivered throughput (Mbps)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4F5775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4F5775"/>
                </a:solidFill>
              </a:defRPr>
            </a:pPr>
            <a:endParaRPr lang="en-US"/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  <a:ln w="9525">
          <a:solidFill>
            <a:srgbClr val="D9E3F8"/>
          </a:solidFill>
          <a:prstDash val="solid"/>
        </a:ln>
      </c:spPr>
    </c:plotArea>
    <c:legend>
      <c:legendPos val="b"/>
      <c:overlay val="0"/>
      <c:spPr>
        <a:noFill/>
        <a:ln w="0">
          <a:noFill/>
          <a:prstDash val="solid"/>
        </a:ln>
      </c:spPr>
      <c:txPr>
        <a:bodyPr anchorCtr="1"/>
        <a:lstStyle/>
        <a:p>
          <a:pPr>
            <a:defRPr sz="1125">
              <a:solidFill>
                <a:srgbClr val="4F5775"/>
              </a:solidFill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FFFFF"/>
    </a:solidFill>
    <a:ln w="0">
      <a:noFill/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6.2935764608371317E-2"/>
          <c:y val="3.3476067716921402E-2"/>
          <c:w val="0.9177659897775936"/>
          <c:h val="0.78848342685707618"/>
        </c:manualLayout>
      </c:layout>
      <c:barChart>
        <c:barDir val="col"/>
        <c:grouping val="clustered"/>
        <c:varyColors val="0"/>
        <c:ser>
          <c:idx val="0"/>
          <c:order val="0"/>
          <c:tx>
            <c:v>Completion (%)</c:v>
          </c:tx>
          <c:spPr>
            <a:solidFill>
              <a:srgbClr val="6594F4"/>
            </a:solidFill>
          </c:spPr>
          <c:invertIfNegative val="1"/>
          <c:dPt>
            <c:idx val="2"/>
            <c:invertIfNegative val="0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1-CDDD-4F7E-95AE-684F194B504A}"/>
              </c:ext>
            </c:extLst>
          </c:dPt>
          <c:dPt>
            <c:idx val="5"/>
            <c:invertIfNegative val="0"/>
            <c:bubble3D val="0"/>
            <c:spPr>
              <a:solidFill>
                <a:srgbClr val="F59E0B"/>
              </a:solidFill>
            </c:spPr>
            <c:extLst>
              <c:ext xmlns:c16="http://schemas.microsoft.com/office/drawing/2014/chart" uri="{C3380CC4-5D6E-409C-BE32-E72D297353CC}">
                <c16:uniqueId val="{00000003-CDDD-4F7E-95AE-684F194B504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350" b="1">
                    <a:solidFill>
                      <a:srgbClr val="0B0B67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6"/>
              <c:pt idx="0">
                <c:v>100</c:v>
              </c:pt>
              <c:pt idx="1">
                <c:v>200</c:v>
              </c:pt>
              <c:pt idx="2">
                <c:v>300</c:v>
              </c:pt>
              <c:pt idx="3">
                <c:v>400</c:v>
              </c:pt>
              <c:pt idx="4">
                <c:v>500</c:v>
              </c:pt>
              <c:pt idx="5">
                <c:v>600</c:v>
              </c:pt>
            </c:num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</c:v>
              </c:pt>
              <c:pt idx="2">
                <c:v>76.332999999999998</c:v>
              </c:pt>
              <c:pt idx="3">
                <c:v>100</c:v>
              </c:pt>
              <c:pt idx="4">
                <c:v>100</c:v>
              </c:pt>
              <c:pt idx="5">
                <c:v>65.332999999999998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CDDD-4F7E-95AE-684F194B50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ID"/>
                  <a:t>Offered load (Mbps)</a:t>
                </a:r>
              </a:p>
            </c:rich>
          </c:tx>
          <c:layout>
            <c:manualLayout>
              <c:xMode val="edge"/>
              <c:yMode val="edge"/>
              <c:x val="0.38316963669015058"/>
              <c:y val="0.91841269841269846"/>
            </c:manualLayout>
          </c:layout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0B0B67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ID"/>
                  <a:t>Completion (%)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4F5775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0:30</a:t>
            </a:r>
          </a:p>
          <a:p>
            <a:endParaRPr/>
          </a:p>
          <a:p>
            <a:r>
              <a:t>- Open with the research question, then state that this week moved from proving custom scheduler behavior to measuring throughput and O-RU power across scheduler caps and offered loads.</a:t>
            </a:r>
          </a:p>
          <a:p>
            <a:r>
              <a:t>- Keep the setup description to one sentence: WINLAB/O-Cloud, one Samsung UE, Pegatron O-RU, and Outlet 2 active power.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docs/StudyNotes/2026-08-05_WINLAB_Weekly-Presentation_Plan.md</a:t>
            </a:r>
          </a:p>
          <a:p>
            <a:r>
              <a:t>- Jesaya David_TEEP Introduction-2.pdf (visual reference)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1:15</a:t>
            </a:r>
          </a:p>
          <a:p>
            <a:endParaRPr/>
          </a:p>
          <a:p>
            <a:r>
              <a:t>- Walk left-to-right through build/deployment, then radio/data, then measurement.</a:t>
            </a:r>
          </a:p>
          <a:p>
            <a:r>
              <a:t>- Emphasize the VNF/PNF boundary: the VNF contains the scheduler under test, while PNF uses a separate worker-mounted runtime.</a:t>
            </a:r>
          </a:p>
          <a:p>
            <a:r>
              <a:t>- Close by pointing out that throughput and Outlet 2 power are aligned by timestamp before plotting.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docs/StudyNotes/2026-08-05_WINLAB_Weekly-Presentation_Plan.md</a:t>
            </a:r>
          </a:p>
          <a:p>
            <a:r>
              <a:t>- docs/StudyNotes/2026-08-05_WINLAB_OAI-Latest_Load-Sweep_Power-Curve_and_Run-QC.md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1:10</a:t>
            </a:r>
          </a:p>
          <a:p>
            <a:endParaRPr/>
          </a:p>
          <a:p>
            <a:r>
              <a:t>- Read only the transition: four engineering milestones are complete; the remaining work is scientific repetition and uncertainty.</a:t>
            </a:r>
          </a:p>
          <a:p>
            <a:r>
              <a:t>- Open the checklist only if asked. Explain that it prevents completed engineering validation from being confused with a validated causal claim.</a:t>
            </a:r>
          </a:p>
          <a:p>
            <a:endParaRPr/>
          </a:p>
          <a:p>
            <a:r>
              <a:t>[Sources]</a:t>
            </a:r>
          </a:p>
          <a:p>
            <a:r>
              <a:t>- docs/WINLAB-Final-Checklist.md</a:t>
            </a:r>
          </a:p>
          <a:p>
            <a:r>
              <a:t>- https://github.com/bmw-ntust-internship/internship/blob/2026-TEEP-2-JDavid/docs/WINLAB-Final-Checklist.md</a:t>
            </a:r>
          </a:p>
          <a:p>
            <a:r>
              <a:t>- docs/StudyNotes/2026-08-05_WINLAB_Weekly-Presentation_Plan.md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0:45</a:t>
            </a:r>
          </a:p>
          <a:p>
            <a:endParaRPr/>
          </a:p>
          <a:p>
            <a:r>
              <a:t>- State clearly that this is an offline playback of measured scheduler telemetry, not a live monitoring dashboard.</a:t>
            </a:r>
          </a:p>
          <a:p>
            <a:r>
              <a:t>- Use one representative frame to point out identity, grant type, PRB allocation, and MCS/TBS/HARQ state.</a:t>
            </a:r>
          </a:p>
          <a:p>
            <a:r>
              <a:t>- The optional live demo should be 20-30 seconds only and is not required for the evidence to remain in the deck.</a:t>
            </a:r>
          </a:p>
          <a:p>
            <a:endParaRPr/>
          </a:p>
          <a:p>
            <a:r>
              <a:t>[Sources]</a:t>
            </a:r>
          </a:p>
          <a:p>
            <a:r>
              <a:t>- assets/winlab_scheduler_playback/qa-desktop.png</a:t>
            </a:r>
          </a:p>
          <a:p>
            <a:r>
              <a:t>- https://github.com/bmw-ntust-internship/internship/blob/2026-TEEP-2-JDavid/assets/winlab_scheduler_playback/index.html</a:t>
            </a:r>
          </a:p>
          <a:p>
            <a:r>
              <a:t>- https://github.com/bmw-ntust-internship/internship/blob/2026-TEEP-2-JDavid/assets/winlab_scheduler_playback/README.md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1:30</a:t>
            </a:r>
          </a:p>
          <a:p>
            <a:endParaRPr/>
          </a:p>
          <a:p>
            <a:r>
              <a:t>- Lead with the contrast: delivered throughput changed by about eight times while mean O-RU power changed by only about one watt.</a:t>
            </a:r>
          </a:p>
          <a:p>
            <a:r>
              <a:t>- Mention energy per delivered bit only as a consequence of the large load-independent component being amortized over more delivered traffic.</a:t>
            </a:r>
          </a:p>
          <a:p>
            <a:r>
              <a:t>- End with the scientific boundary: different image lineages, sequential single runs, no confidence intervals or causal claim.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docs/StudyNotes/2026-08-04_WINLAB_900Mbps_PRB-Cap_Sweep_and_Debug-UI_Assessment.md</a:t>
            </a:r>
          </a:p>
          <a:p>
            <a:r>
              <a:t>- https://github.com/bmw-ntust-internship/internship/blob/2026-TEEP-2-JDavid/docs/StudyNotes/2026-08-04_WINLAB_900Mbps_PRB-Cap_Sweep_and_Debug-UI_Assessment.md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1:20</a:t>
            </a:r>
          </a:p>
          <a:p>
            <a:endParaRPr/>
          </a:p>
          <a:p>
            <a:r>
              <a:t>- This is the direct throughput-versus-power view requested in the study plan: x is delivered throughput and y is run-mean PDU Outlet 2 active power.</a:t>
            </a:r>
          </a:p>
          <a:p>
            <a:r>
              <a:t>- Across the four complete baseline runs, delivered throughput increases from about 100 to 495 Mbps while mean active power increases from 40.594 to 42.015 W.</a:t>
            </a:r>
          </a:p>
          <a:p>
            <a:r>
              <a:t>- The line is a descriptive fit to complete runs only: P(W) = 40.2752 + 0.0032028 × throughput(Mbps), R² = 0.9246, n = 4.</a:t>
            </a:r>
          </a:p>
          <a:p>
            <a:r>
              <a:t>- Orange points are incomplete diagnostic runs; do not treat them as equivalent evidence or claim causality from this small unreplicated sample.</a:t>
            </a:r>
          </a:p>
          <a:p>
            <a:endParaRPr/>
          </a:p>
          <a:p>
            <a:r>
              <a:t>[Sources]</a:t>
            </a:r>
          </a:p>
          <a:p>
            <a:r>
              <a:t>- runs/analysis/20260805_oai_latest_baseline_100_600/load_sweep_summary.csv</a:t>
            </a:r>
          </a:p>
          <a:p>
            <a:r>
              <a:t>- docs/StudyNotes/2026-08-05_WINLAB_OAI-Latest_Load-Sweep_Power-Curve_and_Run-QC.md</a:t>
            </a:r>
          </a:p>
          <a:p>
            <a:r>
              <a:t>- docs/StudyNotes/2026-08-05_WINLAB_Weekly-Presentation_Plan.md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1:35</a:t>
            </a:r>
          </a:p>
          <a:p>
            <a:endParaRPr/>
          </a:p>
          <a:p>
            <a:r>
              <a:t>- Explain only the three observations shown at right; do not narrate every point.</a:t>
            </a:r>
          </a:p>
          <a:p>
            <a:r>
              <a:t>- Point out that orange means incomplete diagnostic, not equivalent evidence.</a:t>
            </a:r>
          </a:p>
          <a:p>
            <a:r>
              <a:t>- Qualify the fit immediately: four complete points, one run each, no randomization or statistical uncertainty yet.</a:t>
            </a:r>
          </a:p>
          <a:p>
            <a:endParaRPr/>
          </a:p>
          <a:p>
            <a:r>
              <a:t>[Sources]</a:t>
            </a:r>
          </a:p>
          <a:p>
            <a:r>
              <a:t>- runs/analysis/20260805_oai_latest_baseline_100_600/load_sweep_overview.png</a:t>
            </a:r>
          </a:p>
          <a:p>
            <a:r>
              <a:t>- runs/analysis/20260805_oai_latest_baseline_100_600/load_sweep_summary.csv</a:t>
            </a:r>
          </a:p>
          <a:p>
            <a:r>
              <a:t>- https://github.com/bmw-ntust-internship/internship/blob/2026-TEEP-2-JDavid/docs/StudyNotes/2026-08-05_WINLAB_OAI-Latest_Load-Sweep_Power-Curve_and_Run-QC.md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1:20</a:t>
            </a:r>
          </a:p>
          <a:p>
            <a:endParaRPr/>
          </a:p>
          <a:p>
            <a:r>
              <a:t>- Separate observation from interpretation explicitly.</a:t>
            </a:r>
          </a:p>
          <a:p>
            <a:r>
              <a:t>- The evidence supports a backpressure/timing hypothesis but does not isolate a single root cause.</a:t>
            </a:r>
          </a:p>
          <a:p>
            <a:r>
              <a:t>- Use the version and RI evidence only to bound interpretation: the VNF is newer than the requested tag and the measured UE link was effectively rank two.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docs/StudyNotes/2026-08-05_WINLAB_OAI-Latest_Load-Sweep_Power-Curve_and_Run-QC.md</a:t>
            </a:r>
          </a:p>
          <a:p>
            <a:r>
              <a:t>- https://github.com/bmw-ntust-internship/internship/blob/2026-TEEP-2-JDavid/docs/StudyNotes/2026-08-05_WINLAB_OAI-Latest_Load-Sweep_Power-Curve_and_Run-QC.md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B6685-36C4-44A3-01A5-278F464DF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7B8FFF-F7CA-F595-7598-A98ECC17AE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F0FA51-6209-6366-38CA-E894B5AF7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1:20</a:t>
            </a:r>
          </a:p>
          <a:p>
            <a:endParaRPr/>
          </a:p>
          <a:p>
            <a:r>
              <a:t>- Separate observation from interpretation explicitly.</a:t>
            </a:r>
          </a:p>
          <a:p>
            <a:r>
              <a:t>- The evidence supports a backpressure/timing hypothesis but does not isolate a single root cause.</a:t>
            </a:r>
          </a:p>
          <a:p>
            <a:r>
              <a:t>- Use the version and RI evidence only to bound interpretation: the VNF is newer than the requested tag and the measured UE link was effectively rank two.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docs/StudyNotes/2026-08-05_WINLAB_OAI-Latest_Load-Sweep_Power-Curve_and_Run-QC.md</a:t>
            </a:r>
          </a:p>
          <a:p>
            <a:r>
              <a:t>- https://github.com/bmw-ntust-internship/internship/blob/2026-TEEP-2-JDavid/docs/StudyNotes/2026-08-05_WINLAB_OAI-Latest_Load-Sweep_Power-Curve_and_Run-QC.md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48DB8-23EB-5538-239A-032DF459201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562217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1:10</a:t>
            </a:r>
          </a:p>
          <a:p>
            <a:endParaRPr/>
          </a:p>
          <a:p>
            <a:r>
              <a:t>- Describe the next work as a sequence: finish coverage, quantify uncertainty, then compare scheduler modes on one common source base.</a:t>
            </a:r>
          </a:p>
          <a:p>
            <a:r>
              <a:t>- Close on the bounded inference about a large load-independent component and the question that repeated trials must answer.</a:t>
            </a:r>
          </a:p>
          <a:p>
            <a:r>
              <a:t>- Use the final sentence to hand off to the next presenter.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docs/StudyNotes/2026-08-05_WINLAB_Weekly-Presentation_Plan.md</a:t>
            </a:r>
          </a:p>
          <a:p>
            <a:r>
              <a:t>- docs/WINLAB-Final-Checklist.md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C4837-9B93-48BC-5DFF-E1175A08B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604C5-4E22-618F-7F64-F251CB85C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3AD29-0D0A-BED4-4C02-BB0EEF49A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1:10</a:t>
            </a:r>
          </a:p>
          <a:p>
            <a:endParaRPr/>
          </a:p>
          <a:p>
            <a:r>
              <a:t>- Describe the next work as a sequence: finish coverage, quantify uncertainty, then compare scheduler modes on one common source base.</a:t>
            </a:r>
          </a:p>
          <a:p>
            <a:r>
              <a:t>- Close on the bounded inference about a large load-independent component and the question that repeated trials must answer.</a:t>
            </a:r>
          </a:p>
          <a:p>
            <a:r>
              <a:t>- Use the final sentence to hand off to the next presenter.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docs/StudyNotes/2026-08-05_WINLAB_Weekly-Presentation_Plan.md</a:t>
            </a:r>
          </a:p>
          <a:p>
            <a:r>
              <a:t>- docs/WINLAB-Final-Checklist.md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14217-5426-19E8-2307-01EEF801898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04368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Backup</a:t>
            </a:r>
          </a:p>
          <a:p>
            <a:endParaRPr/>
          </a:p>
          <a:p>
            <a:r>
              <a:t>- Use this slide when asked why changing or rolling back the VNF did not necessarily repair the radio-side runtime.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docs/StudyNotes/2026-08-05_WINLAB_OAI-Latest_Load-Sweep_Power-Curve_and_Run-QC.md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Backup</a:t>
            </a:r>
          </a:p>
          <a:p>
            <a:endParaRPr/>
          </a:p>
          <a:p>
            <a:r>
              <a:t>- Exact audit metadata is intentionally kept out of the visible slide.</a:t>
            </a:r>
          </a:p>
          <a:p>
            <a:r>
              <a:t>- 27 PRB image digest: sha256:409690de1803d3705b3419f4a35cbe65e36efa1af2f832d5977b6db5fff9eadd; artifact e2e-ocloud-20260804-061813.</a:t>
            </a:r>
          </a:p>
          <a:p>
            <a:r>
              <a:t>- 54 PRB image digest: sha256:307d0e269a4187df719e0d48928ce639c8084f843411bdebb121fd3b9ee983ea; artifact e2e-ocloud-20260804-065538.</a:t>
            </a:r>
          </a:p>
          <a:p>
            <a:r>
              <a:t>- 104 PRB image digest: sha256:1f1ffe2736e8e0ce91e90db586348d3bc8d42cbe669019a4154b8af58e239a8a; artifact e2e-ocloud-20260804-071951.</a:t>
            </a:r>
          </a:p>
          <a:p>
            <a:r>
              <a:t>- OAI latest image digest: sha256:c227006518795bdb517db0db15be7c12850c9184297e4cb514ea3987a5108edc; artifact e2e-ocloud-20260804-040735.</a:t>
            </a:r>
          </a:p>
          <a:p>
            <a:endParaRPr/>
          </a:p>
          <a:p>
            <a:r>
              <a:t>[Sources]</a:t>
            </a:r>
          </a:p>
          <a:p>
            <a:r>
              <a:t>- docs/StudyNotes/2026-08-04_WINLAB_900Mbps_PRB-Cap_Sweep_and_Debug-UI_Assessment.md</a:t>
            </a:r>
          </a:p>
          <a:p>
            <a:r>
              <a:t>- https://github.com/bmw-ntust-internship/internship/blob/2026-TEEP-2-JDavid/docs/StudyNotes/2026-08-04_WINLAB_900Mbps_PRB-Cap_Sweep_and_Debug-UI_Assessment.md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Backup</a:t>
            </a:r>
          </a:p>
          <a:p>
            <a:endParaRPr/>
          </a:p>
          <a:p>
            <a:r>
              <a:t>- Completeness is positive-traffic window span divided by the requested 600 seconds.</a:t>
            </a:r>
          </a:p>
          <a:p>
            <a:endParaRPr/>
          </a:p>
          <a:p>
            <a:r>
              <a:t>[Sources]</a:t>
            </a:r>
          </a:p>
          <a:p>
            <a:r>
              <a:t>- runs/analysis/20260805_oai_latest_baseline_100_600/load_sweep_summary.csv</a:t>
            </a:r>
          </a:p>
          <a:p>
            <a:r>
              <a:t>- https://github.com/bmw-ntust-internship/internship/blob/2026-TEEP-2-JDavid/docs/StudyNotes/2026-08-05_WINLAB_OAI-Latest_Load-Sweep_Power-Curve_and_Run-QC.md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Backup</a:t>
            </a:r>
          </a:p>
          <a:p>
            <a:endParaRPr/>
          </a:p>
          <a:p>
            <a:r>
              <a:t>- Cumulative pod logs can repeat earlier events, so future runs need per-step log markers before counting event frequency.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https://github.com/bmw-ntust-internship/internship/blob/2026-TEEP-2-JDavid/docs/StudyNotes/2026-08-05_WINLAB_OAI-Latest_Load-Sweep_Power-Curve_and_Run-QC.md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Backup</a:t>
            </a:r>
          </a:p>
          <a:p>
            <a:endParaRPr/>
          </a:p>
          <a:p>
            <a:r>
              <a:t>- The established merge procedure uses only the positive-traffic interval and reports sample count and completeness for each condition.</a:t>
            </a:r>
          </a:p>
          <a:p>
            <a:endParaRPr/>
          </a:p>
          <a:p>
            <a:r>
              <a:t>[Sources]</a:t>
            </a:r>
          </a:p>
          <a:p>
            <a:r>
              <a:t>- https://github.com/bmw-ntust-internship/internship/blob/2026-TEEP-2-JDavid/docs/StudyNotes/2026-08-05_WINLAB_OAI-Latest_Load-Sweep_Power-Curve_and_Run-QC.md</a:t>
            </a:r>
          </a:p>
          <a:p>
            <a:r>
              <a:t>- runs/analysis/20260805_oai_latest_baseline_100_600/load_sweep_summary.csv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Backup</a:t>
            </a:r>
          </a:p>
          <a:p>
            <a:endParaRPr/>
          </a:p>
          <a:p>
            <a:r>
              <a:t>- The checklist is designed to survive weekly updates and become the final presentation/report completion gate.</a:t>
            </a:r>
          </a:p>
          <a:p>
            <a:endParaRPr/>
          </a:p>
          <a:p>
            <a:r>
              <a:t>[Sources]</a:t>
            </a:r>
          </a:p>
          <a:p>
            <a:r>
              <a:t>- docs/WINLAB-Final-Checklist.md</a:t>
            </a:r>
          </a:p>
          <a:p>
            <a:r>
              <a:t>- https://github.com/bmw-ntust-internship/internship/blob/2026-TEEP-2-JDavid/docs/WINLAB-Final-Checklist.md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 target: Backup</a:t>
            </a:r>
          </a:p>
          <a:p>
            <a:endParaRPr/>
          </a:p>
          <a:p>
            <a:r>
              <a:t>- Use this slide to answer what the playback proves and which logged fields support that conclusion.</a:t>
            </a:r>
          </a:p>
          <a:p>
            <a:endParaRPr/>
          </a:p>
          <a:p>
            <a:r>
              <a:t>[Sources]</a:t>
            </a:r>
          </a:p>
          <a:p>
            <a:r>
              <a:t>- assets/winlab_scheduler_playback/README.md</a:t>
            </a:r>
          </a:p>
          <a:p>
            <a:r>
              <a:t>- https://github.com/bmw-ntust-internship/internship/blob/2026-TEEP-2-JDavid/assets/winlab_scheduler_playback/index.html</a:t>
            </a:r>
          </a:p>
          <a:p>
            <a:r>
              <a:t>- https://github.com/bmw-ntust-internship/internship/blob/2026-TEEP-2-JDavid/docs/StudyNotes/2026-08-04_WINLAB_900Mbps_PRB-Cap_Sweep_and_Debug-UI_Assessment.md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mw-ntust-internship/internship/blob/2026-TEEP-2-JDavid/docs/WINLAB-Final-Checklist.m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bmw-ntust-internship/internship/blob/2026-TEEP-2-JDavid/assets/winlab_scheduler_playback/index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mw-ntust-internship/internship/blob/2026-TEEP-2-JDavid/docs/WINLAB-Final-Checklist.md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7E2FF70-117C-4EC8-ABAF-36607899A9C2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0366E767-F005-4E24-B00E-F7709B585401}"/>
              </a:ext>
            </a:extLst>
          </p:cNvPr>
          <p:cNvSpPr>
            <a:spLocks noGrp="1"/>
          </p:cNvSpPr>
          <p:nvPr/>
        </p:nvSpPr>
        <p:spPr>
          <a:xfrm>
            <a:off x="9944100" y="-171450"/>
            <a:ext cx="2762250" cy="23812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D15B3E3E-A9C5-464B-AC5E-808A39929B8B}"/>
              </a:ext>
            </a:extLst>
          </p:cNvPr>
          <p:cNvSpPr>
            <a:spLocks noGrp="1"/>
          </p:cNvSpPr>
          <p:nvPr/>
        </p:nvSpPr>
        <p:spPr>
          <a:xfrm>
            <a:off x="10287000" y="4429125"/>
            <a:ext cx="2381250" cy="2190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7C2614-E0A2-49AE-B186-018B330EFCB4}"/>
              </a:ext>
            </a:extLst>
          </p:cNvPr>
          <p:cNvSpPr>
            <a:spLocks noGrp="1"/>
          </p:cNvSpPr>
          <p:nvPr/>
        </p:nvSpPr>
        <p:spPr>
          <a:xfrm rot="2700000">
            <a:off x="10001250" y="762000"/>
            <a:ext cx="990600" cy="9906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E58013-246E-4C7F-84BE-29B2A4763876}"/>
              </a:ext>
            </a:extLst>
          </p:cNvPr>
          <p:cNvSpPr>
            <a:spLocks noGrp="1"/>
          </p:cNvSpPr>
          <p:nvPr/>
        </p:nvSpPr>
        <p:spPr>
          <a:xfrm rot="2700000">
            <a:off x="9429750" y="419100"/>
            <a:ext cx="628650" cy="62865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7F1A237-3CA4-4E05-B0D4-26367DC87329}"/>
              </a:ext>
            </a:extLst>
          </p:cNvPr>
          <p:cNvSpPr>
            <a:spLocks noGrp="1"/>
          </p:cNvSpPr>
          <p:nvPr/>
        </p:nvSpPr>
        <p:spPr>
          <a:xfrm>
            <a:off x="590550" y="4762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3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WINLAB / BMW LAB</a:t>
            </a:r>
          </a:p>
        </p:txBody>
      </p:sp>
      <p:sp>
        <p:nvSpPr>
          <p:cNvPr id="7" name="deck-title">
            <a:extLst>
              <a:ext uri="{FF2B5EF4-FFF2-40B4-BE49-F238E27FC236}">
                <a16:creationId xmlns:a16="http://schemas.microsoft.com/office/drawing/2014/main" id="{CE7BE5BA-4807-46BC-9FF7-F8E02D42950E}"/>
              </a:ext>
            </a:extLst>
          </p:cNvPr>
          <p:cNvSpPr>
            <a:spLocks noGrp="1"/>
          </p:cNvSpPr>
          <p:nvPr/>
        </p:nvSpPr>
        <p:spPr>
          <a:xfrm>
            <a:off x="590550" y="1409700"/>
            <a:ext cx="8429625" cy="1676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83958" lnSpcReduction="10000"/>
          </a:bodyPr>
          <a:lstStyle/>
          <a:p>
            <a:pPr algn="l">
              <a:lnSpc>
                <a:spcPct val="100000"/>
              </a:lnSpc>
              <a:buNone/>
              <a:defRPr sz="51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OAI Scheduler Allocation</a:t>
            </a:r>
          </a:p>
          <a:p>
            <a:pPr algn="l">
              <a:lnSpc>
                <a:spcPct val="100000"/>
              </a:lnSpc>
              <a:buNone/>
              <a:defRPr sz="51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51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vs. O-RU Power Consumption</a:t>
            </a:r>
          </a:p>
        </p:txBody>
      </p:sp>
      <p:sp>
        <p:nvSpPr>
          <p:cNvPr id="8" name="research-question">
            <a:extLst>
              <a:ext uri="{FF2B5EF4-FFF2-40B4-BE49-F238E27FC236}">
                <a16:creationId xmlns:a16="http://schemas.microsoft.com/office/drawing/2014/main" id="{CE9872B7-C58F-49B3-93BA-E91D21721E3E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8763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/>
          </a:bodyPr>
          <a:lstStyle/>
          <a:p>
            <a:pPr algn="l">
              <a:lnSpc>
                <a:spcPct val="100000"/>
              </a:lnSpc>
              <a:buNone/>
              <a:defRPr sz="24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How does downlink resource allocation change delivered throughput, Pegatron O-RU active power, and energy per delivered bit?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71CBD35-74F5-4E9B-B0E1-F24B434C951B}"/>
              </a:ext>
            </a:extLst>
          </p:cNvPr>
          <p:cNvSpPr>
            <a:spLocks noGrp="1"/>
          </p:cNvSpPr>
          <p:nvPr/>
        </p:nvSpPr>
        <p:spPr>
          <a:xfrm>
            <a:off x="647700" y="4819650"/>
            <a:ext cx="3467100" cy="400050"/>
          </a:xfrm>
          <a:prstGeom prst="roundRect">
            <a:avLst>
              <a:gd name="adj" fmla="val 19048"/>
            </a:avLst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949CE3-9D66-4897-A81E-3087AC2C4433}"/>
              </a:ext>
            </a:extLst>
          </p:cNvPr>
          <p:cNvSpPr>
            <a:spLocks noGrp="1"/>
          </p:cNvSpPr>
          <p:nvPr/>
        </p:nvSpPr>
        <p:spPr>
          <a:xfrm>
            <a:off x="647700" y="4819650"/>
            <a:ext cx="3467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WINLAB / O-Cloud - single 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589485-A25A-40F4-BA16-CFA5ADF36F79}"/>
              </a:ext>
            </a:extLst>
          </p:cNvPr>
          <p:cNvSpPr>
            <a:spLocks noGrp="1"/>
          </p:cNvSpPr>
          <p:nvPr/>
        </p:nvSpPr>
        <p:spPr>
          <a:xfrm>
            <a:off x="647700" y="573405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4F5775"/>
                </a:solidFill>
                <a:latin typeface="Arial"/>
                <a:ea typeface="Arial"/>
                <a:cs typeface="Arial"/>
              </a:rPr>
              <a:t>Jesaya David G.N.P.  |  5 August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09F4F8-E655-437C-9CDE-5717600700C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8241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A09759BB-B44B-4FD1-90F4-D93DABE436CE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1B1F6CCC-6572-4C17-9186-2A3FC42AFB30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0534040C-DB0B-41C6-9623-03F15DC982F1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D2A6A3-83EA-45A5-BA89-7ED2D4D94907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A08CE0-1E79-43EF-8401-470D3E01A030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2">
            <a:extLst>
              <a:ext uri="{FF2B5EF4-FFF2-40B4-BE49-F238E27FC236}">
                <a16:creationId xmlns:a16="http://schemas.microsoft.com/office/drawing/2014/main" id="{BDDB9819-F391-452A-992B-CE81B946AC7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2">
            <a:extLst>
              <a:ext uri="{FF2B5EF4-FFF2-40B4-BE49-F238E27FC236}">
                <a16:creationId xmlns:a16="http://schemas.microsoft.com/office/drawing/2014/main" id="{0E0B78D9-4CF1-4F66-A040-689E99A77C5C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itle-2">
            <a:extLst>
              <a:ext uri="{FF2B5EF4-FFF2-40B4-BE49-F238E27FC236}">
                <a16:creationId xmlns:a16="http://schemas.microsoft.com/office/drawing/2014/main" id="{370908A8-3654-49C7-B055-66921F464C5C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7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75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Experiment Flow Recap</a:t>
            </a:r>
            <a:endParaRPr sz="375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9C6C12C-A43E-4D24-9205-F50121E9FA80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D88FA5-FAB7-496B-AEE8-B75AE4B285F2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3ED8AB-CC09-471E-BE13-81B6391E75D9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53655C-5CA6-465B-BB54-FCB4657FE02B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BUILD / DEPLOYMENT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9C9DC2D-BD02-424D-A0F4-72625AE26976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63E6FF-84B7-4B61-969B-982C87FB0F74}"/>
              </a:ext>
            </a:extLst>
          </p:cNvPr>
          <p:cNvSpPr>
            <a:spLocks noGrp="1"/>
          </p:cNvSpPr>
          <p:nvPr/>
        </p:nvSpPr>
        <p:spPr>
          <a:xfrm>
            <a:off x="685800" y="3076575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RADIO / DATA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4FAD9A-477D-40F3-A59D-337CB8541AF1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095500" cy="323850"/>
          </a:xfrm>
          <a:prstGeom prst="roundRect">
            <a:avLst>
              <a:gd name="adj" fmla="val 23529"/>
            </a:avLst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DEDD3A-FE9F-4B82-9828-6D6B6EA0416C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MEASUREMENT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1EFDCCC8-323D-4E59-B9F1-796F2FB74E85}"/>
              </a:ext>
            </a:extLst>
          </p:cNvPr>
          <p:cNvSpPr>
            <a:spLocks noGrp="1"/>
          </p:cNvSpPr>
          <p:nvPr/>
        </p:nvSpPr>
        <p:spPr>
          <a:xfrm>
            <a:off x="2647950" y="2105025"/>
            <a:ext cx="304800" cy="285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5EB2CF45-7BF1-4562-898A-EAE8B6E2A45F}"/>
              </a:ext>
            </a:extLst>
          </p:cNvPr>
          <p:cNvSpPr>
            <a:spLocks noGrp="1"/>
          </p:cNvSpPr>
          <p:nvPr/>
        </p:nvSpPr>
        <p:spPr>
          <a:xfrm>
            <a:off x="4495800" y="2105025"/>
            <a:ext cx="304800" cy="285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6794A6BD-D040-47ED-BB5E-B8D17C1B065B}"/>
              </a:ext>
            </a:extLst>
          </p:cNvPr>
          <p:cNvSpPr>
            <a:spLocks noGrp="1"/>
          </p:cNvSpPr>
          <p:nvPr/>
        </p:nvSpPr>
        <p:spPr>
          <a:xfrm>
            <a:off x="6343650" y="2105025"/>
            <a:ext cx="304800" cy="285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DDE7D744-DD03-4959-8557-986B6C45DDA9}"/>
              </a:ext>
            </a:extLst>
          </p:cNvPr>
          <p:cNvSpPr>
            <a:spLocks noGrp="1"/>
          </p:cNvSpPr>
          <p:nvPr/>
        </p:nvSpPr>
        <p:spPr>
          <a:xfrm>
            <a:off x="2743200" y="3762375"/>
            <a:ext cx="266700" cy="285750"/>
          </a:xfrm>
          <a:prstGeom prst="chevron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5F987F67-5FB2-4835-9998-2423A848BABE}"/>
              </a:ext>
            </a:extLst>
          </p:cNvPr>
          <p:cNvSpPr>
            <a:spLocks noGrp="1"/>
          </p:cNvSpPr>
          <p:nvPr/>
        </p:nvSpPr>
        <p:spPr>
          <a:xfrm>
            <a:off x="4476750" y="3762375"/>
            <a:ext cx="266700" cy="285750"/>
          </a:xfrm>
          <a:prstGeom prst="chevron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7945ACC5-EA0B-4F8C-BEAA-577CCC581D54}"/>
              </a:ext>
            </a:extLst>
          </p:cNvPr>
          <p:cNvSpPr>
            <a:spLocks noGrp="1"/>
          </p:cNvSpPr>
          <p:nvPr/>
        </p:nvSpPr>
        <p:spPr>
          <a:xfrm>
            <a:off x="6210300" y="3762375"/>
            <a:ext cx="266700" cy="285750"/>
          </a:xfrm>
          <a:prstGeom prst="chevron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747A41A7-D314-4259-9658-64FC317324C1}"/>
              </a:ext>
            </a:extLst>
          </p:cNvPr>
          <p:cNvSpPr>
            <a:spLocks noGrp="1"/>
          </p:cNvSpPr>
          <p:nvPr/>
        </p:nvSpPr>
        <p:spPr>
          <a:xfrm>
            <a:off x="7943850" y="3762375"/>
            <a:ext cx="266700" cy="285750"/>
          </a:xfrm>
          <a:prstGeom prst="chevron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B1CB4B00-5B25-497A-A1F3-84D891F16966}"/>
              </a:ext>
            </a:extLst>
          </p:cNvPr>
          <p:cNvSpPr>
            <a:spLocks noGrp="1"/>
          </p:cNvSpPr>
          <p:nvPr/>
        </p:nvSpPr>
        <p:spPr>
          <a:xfrm>
            <a:off x="9677400" y="3762375"/>
            <a:ext cx="266700" cy="285750"/>
          </a:xfrm>
          <a:prstGeom prst="chevron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48CE57D9-600D-41A3-9182-60A7F1D2E405}"/>
              </a:ext>
            </a:extLst>
          </p:cNvPr>
          <p:cNvSpPr>
            <a:spLocks noGrp="1"/>
          </p:cNvSpPr>
          <p:nvPr/>
        </p:nvSpPr>
        <p:spPr>
          <a:xfrm>
            <a:off x="2990850" y="5572125"/>
            <a:ext cx="266700" cy="285750"/>
          </a:xfrm>
          <a:prstGeom prst="chevron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519A1C7B-C905-45B8-9D9B-785C159B5D32}"/>
              </a:ext>
            </a:extLst>
          </p:cNvPr>
          <p:cNvSpPr>
            <a:spLocks noGrp="1"/>
          </p:cNvSpPr>
          <p:nvPr/>
        </p:nvSpPr>
        <p:spPr>
          <a:xfrm>
            <a:off x="5143500" y="5572125"/>
            <a:ext cx="266700" cy="285750"/>
          </a:xfrm>
          <a:prstGeom prst="chevron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448E9BED-B050-43B5-8D79-9B5BDBA2E954}"/>
              </a:ext>
            </a:extLst>
          </p:cNvPr>
          <p:cNvSpPr>
            <a:spLocks noGrp="1"/>
          </p:cNvSpPr>
          <p:nvPr/>
        </p:nvSpPr>
        <p:spPr>
          <a:xfrm>
            <a:off x="7296150" y="5572125"/>
            <a:ext cx="266700" cy="285750"/>
          </a:xfrm>
          <a:prstGeom prst="chevron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807B6498-BE50-434D-B53D-F8E248BD1BCE}"/>
              </a:ext>
            </a:extLst>
          </p:cNvPr>
          <p:cNvSpPr>
            <a:spLocks noGrp="1"/>
          </p:cNvSpPr>
          <p:nvPr/>
        </p:nvSpPr>
        <p:spPr>
          <a:xfrm>
            <a:off x="9448800" y="5572125"/>
            <a:ext cx="266700" cy="285750"/>
          </a:xfrm>
          <a:prstGeom prst="chevron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9" name="arch-git">
            <a:extLst>
              <a:ext uri="{FF2B5EF4-FFF2-40B4-BE49-F238E27FC236}">
                <a16:creationId xmlns:a16="http://schemas.microsoft.com/office/drawing/2014/main" id="{D0E88261-6171-4B65-BBD4-B8253A6EFC6F}"/>
              </a:ext>
            </a:extLst>
          </p:cNvPr>
          <p:cNvSpPr>
            <a:spLocks noGrp="1"/>
          </p:cNvSpPr>
          <p:nvPr/>
        </p:nvSpPr>
        <p:spPr>
          <a:xfrm>
            <a:off x="1066800" y="1914525"/>
            <a:ext cx="1581150" cy="666750"/>
          </a:xfrm>
          <a:prstGeom prst="roundRect">
            <a:avLst>
              <a:gd name="adj" fmla="val 11429"/>
            </a:avLst>
          </a:prstGeom>
          <a:solidFill>
            <a:srgbClr val="F7F9FF"/>
          </a:solidFill>
          <a:ln w="14288">
            <a:solidFill>
              <a:srgbClr val="3E73A5"/>
            </a:solidFill>
            <a:prstDash val="solid"/>
          </a:ln>
        </p:spPr>
      </p:sp>
      <p:sp>
        <p:nvSpPr>
          <p:cNvPr id="30" name="arch-git-text">
            <a:extLst>
              <a:ext uri="{FF2B5EF4-FFF2-40B4-BE49-F238E27FC236}">
                <a16:creationId xmlns:a16="http://schemas.microsoft.com/office/drawing/2014/main" id="{280E4572-D266-41AF-9FDE-A4196E12C152}"/>
              </a:ext>
            </a:extLst>
          </p:cNvPr>
          <p:cNvSpPr>
            <a:spLocks noGrp="1"/>
          </p:cNvSpPr>
          <p:nvPr/>
        </p:nvSpPr>
        <p:spPr>
          <a:xfrm>
            <a:off x="1123950" y="1962150"/>
            <a:ext cx="1466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Git / OAI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31" name="arch-jenkins">
            <a:extLst>
              <a:ext uri="{FF2B5EF4-FFF2-40B4-BE49-F238E27FC236}">
                <a16:creationId xmlns:a16="http://schemas.microsoft.com/office/drawing/2014/main" id="{2F81D466-72D0-4C2D-B22D-5E74B1562DF3}"/>
              </a:ext>
            </a:extLst>
          </p:cNvPr>
          <p:cNvSpPr>
            <a:spLocks noGrp="1"/>
          </p:cNvSpPr>
          <p:nvPr/>
        </p:nvSpPr>
        <p:spPr>
          <a:xfrm>
            <a:off x="2952750" y="1914525"/>
            <a:ext cx="1543050" cy="666750"/>
          </a:xfrm>
          <a:prstGeom prst="roundRect">
            <a:avLst>
              <a:gd name="adj" fmla="val 11429"/>
            </a:avLst>
          </a:prstGeom>
          <a:solidFill>
            <a:srgbClr val="F7F9FF"/>
          </a:solidFill>
          <a:ln w="14288">
            <a:solidFill>
              <a:srgbClr val="3E73A5"/>
            </a:solidFill>
            <a:prstDash val="solid"/>
          </a:ln>
        </p:spPr>
      </p:sp>
      <p:sp>
        <p:nvSpPr>
          <p:cNvPr id="32" name="arch-jenkins-text">
            <a:extLst>
              <a:ext uri="{FF2B5EF4-FFF2-40B4-BE49-F238E27FC236}">
                <a16:creationId xmlns:a16="http://schemas.microsoft.com/office/drawing/2014/main" id="{71C60FF7-3CD1-4332-B50A-2EAE67F176DE}"/>
              </a:ext>
            </a:extLst>
          </p:cNvPr>
          <p:cNvSpPr>
            <a:spLocks noGrp="1"/>
          </p:cNvSpPr>
          <p:nvPr/>
        </p:nvSpPr>
        <p:spPr>
          <a:xfrm>
            <a:off x="3009900" y="196215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Jenkins</a:t>
            </a:r>
          </a:p>
        </p:txBody>
      </p:sp>
      <p:sp>
        <p:nvSpPr>
          <p:cNvPr id="33" name="arch-quay">
            <a:extLst>
              <a:ext uri="{FF2B5EF4-FFF2-40B4-BE49-F238E27FC236}">
                <a16:creationId xmlns:a16="http://schemas.microsoft.com/office/drawing/2014/main" id="{D34712EE-3020-4B2C-9F86-27BC5830AFF2}"/>
              </a:ext>
            </a:extLst>
          </p:cNvPr>
          <p:cNvSpPr>
            <a:spLocks noGrp="1"/>
          </p:cNvSpPr>
          <p:nvPr/>
        </p:nvSpPr>
        <p:spPr>
          <a:xfrm>
            <a:off x="4800600" y="1914525"/>
            <a:ext cx="1543050" cy="666750"/>
          </a:xfrm>
          <a:prstGeom prst="roundRect">
            <a:avLst>
              <a:gd name="adj" fmla="val 11429"/>
            </a:avLst>
          </a:prstGeom>
          <a:solidFill>
            <a:srgbClr val="F7F9FF"/>
          </a:solidFill>
          <a:ln w="14288">
            <a:solidFill>
              <a:srgbClr val="3E73A5"/>
            </a:solidFill>
            <a:prstDash val="solid"/>
          </a:ln>
        </p:spPr>
      </p:sp>
      <p:sp>
        <p:nvSpPr>
          <p:cNvPr id="34" name="arch-quay-text">
            <a:extLst>
              <a:ext uri="{FF2B5EF4-FFF2-40B4-BE49-F238E27FC236}">
                <a16:creationId xmlns:a16="http://schemas.microsoft.com/office/drawing/2014/main" id="{17563776-BA8D-45CD-A80E-FF82A43B1ED4}"/>
              </a:ext>
            </a:extLst>
          </p:cNvPr>
          <p:cNvSpPr>
            <a:spLocks noGrp="1"/>
          </p:cNvSpPr>
          <p:nvPr/>
        </p:nvSpPr>
        <p:spPr>
          <a:xfrm>
            <a:off x="4857750" y="196215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Quay</a:t>
            </a:r>
          </a:p>
        </p:txBody>
      </p:sp>
      <p:sp>
        <p:nvSpPr>
          <p:cNvPr id="35" name="arch-vnf">
            <a:extLst>
              <a:ext uri="{FF2B5EF4-FFF2-40B4-BE49-F238E27FC236}">
                <a16:creationId xmlns:a16="http://schemas.microsoft.com/office/drawing/2014/main" id="{ACE623BC-7595-497A-9EC5-CBC7D582559F}"/>
              </a:ext>
            </a:extLst>
          </p:cNvPr>
          <p:cNvSpPr>
            <a:spLocks noGrp="1"/>
          </p:cNvSpPr>
          <p:nvPr/>
        </p:nvSpPr>
        <p:spPr>
          <a:xfrm>
            <a:off x="6648450" y="1828800"/>
            <a:ext cx="2533650" cy="838200"/>
          </a:xfrm>
          <a:prstGeom prst="roundRect">
            <a:avLst>
              <a:gd name="adj" fmla="val 9091"/>
            </a:avLst>
          </a:prstGeom>
          <a:solidFill>
            <a:srgbClr val="EEF3FF"/>
          </a:solidFill>
          <a:ln w="14288">
            <a:solidFill>
              <a:srgbClr val="6594F4"/>
            </a:solidFill>
            <a:prstDash val="solid"/>
          </a:ln>
        </p:spPr>
      </p:sp>
      <p:sp>
        <p:nvSpPr>
          <p:cNvPr id="36" name="arch-vnf-text">
            <a:extLst>
              <a:ext uri="{FF2B5EF4-FFF2-40B4-BE49-F238E27FC236}">
                <a16:creationId xmlns:a16="http://schemas.microsoft.com/office/drawing/2014/main" id="{6F0B9AD9-3854-4675-A624-D6AC8F39C5D4}"/>
              </a:ext>
            </a:extLst>
          </p:cNvPr>
          <p:cNvSpPr>
            <a:spLocks noGrp="1"/>
          </p:cNvSpPr>
          <p:nvPr/>
        </p:nvSpPr>
        <p:spPr>
          <a:xfrm>
            <a:off x="6705600" y="1876425"/>
            <a:ext cx="24193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Kubernetes VNF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OAI MAC scheduler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1FE0103-AD0F-429E-9307-AF4EA4124580}"/>
              </a:ext>
            </a:extLst>
          </p:cNvPr>
          <p:cNvSpPr>
            <a:spLocks noGrp="1"/>
          </p:cNvSpPr>
          <p:nvPr/>
        </p:nvSpPr>
        <p:spPr>
          <a:xfrm>
            <a:off x="7000875" y="2676525"/>
            <a:ext cx="1847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0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container image under test</a:t>
            </a:r>
          </a:p>
        </p:txBody>
      </p:sp>
      <p:sp>
        <p:nvSpPr>
          <p:cNvPr id="38" name="radio-vnf">
            <a:extLst>
              <a:ext uri="{FF2B5EF4-FFF2-40B4-BE49-F238E27FC236}">
                <a16:creationId xmlns:a16="http://schemas.microsoft.com/office/drawing/2014/main" id="{E5C7B071-4700-4D9C-B8CF-F7F697915682}"/>
              </a:ext>
            </a:extLst>
          </p:cNvPr>
          <p:cNvSpPr>
            <a:spLocks noGrp="1"/>
          </p:cNvSpPr>
          <p:nvPr/>
        </p:nvSpPr>
        <p:spPr>
          <a:xfrm>
            <a:off x="1123950" y="3571875"/>
            <a:ext cx="1619250" cy="666750"/>
          </a:xfrm>
          <a:prstGeom prst="roundRect">
            <a:avLst>
              <a:gd name="adj" fmla="val 11429"/>
            </a:avLst>
          </a:prstGeom>
          <a:solidFill>
            <a:srgbClr val="EEF3FF"/>
          </a:solidFill>
          <a:ln w="14288">
            <a:solidFill>
              <a:srgbClr val="6594F4"/>
            </a:solidFill>
            <a:prstDash val="solid"/>
          </a:ln>
        </p:spPr>
      </p:sp>
      <p:sp>
        <p:nvSpPr>
          <p:cNvPr id="39" name="radio-vnf-text">
            <a:extLst>
              <a:ext uri="{FF2B5EF4-FFF2-40B4-BE49-F238E27FC236}">
                <a16:creationId xmlns:a16="http://schemas.microsoft.com/office/drawing/2014/main" id="{98CF3815-B896-4E8C-8021-F762543D4BA8}"/>
              </a:ext>
            </a:extLst>
          </p:cNvPr>
          <p:cNvSpPr>
            <a:spLocks noGrp="1"/>
          </p:cNvSpPr>
          <p:nvPr/>
        </p:nvSpPr>
        <p:spPr>
          <a:xfrm>
            <a:off x="1181100" y="3619500"/>
            <a:ext cx="15049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VNF</a:t>
            </a:r>
          </a:p>
        </p:txBody>
      </p:sp>
      <p:sp>
        <p:nvSpPr>
          <p:cNvPr id="40" name="radio-pnf">
            <a:extLst>
              <a:ext uri="{FF2B5EF4-FFF2-40B4-BE49-F238E27FC236}">
                <a16:creationId xmlns:a16="http://schemas.microsoft.com/office/drawing/2014/main" id="{9DDBE97A-B328-464D-87DC-2F4172D01D9A}"/>
              </a:ext>
            </a:extLst>
          </p:cNvPr>
          <p:cNvSpPr>
            <a:spLocks noGrp="1"/>
          </p:cNvSpPr>
          <p:nvPr/>
        </p:nvSpPr>
        <p:spPr>
          <a:xfrm>
            <a:off x="3028950" y="3467100"/>
            <a:ext cx="1447800" cy="876300"/>
          </a:xfrm>
          <a:prstGeom prst="roundRect">
            <a:avLst>
              <a:gd name="adj" fmla="val 8696"/>
            </a:avLst>
          </a:prstGeom>
          <a:solidFill>
            <a:srgbClr val="F7F9FF"/>
          </a:solidFill>
          <a:ln w="14288">
            <a:solidFill>
              <a:srgbClr val="0B0B67"/>
            </a:solidFill>
            <a:prstDash val="solid"/>
          </a:ln>
        </p:spPr>
      </p:sp>
      <p:sp>
        <p:nvSpPr>
          <p:cNvPr id="41" name="radio-pnf-text">
            <a:extLst>
              <a:ext uri="{FF2B5EF4-FFF2-40B4-BE49-F238E27FC236}">
                <a16:creationId xmlns:a16="http://schemas.microsoft.com/office/drawing/2014/main" id="{1CB8E74E-7687-4534-BCCE-0DFFE6633492}"/>
              </a:ext>
            </a:extLst>
          </p:cNvPr>
          <p:cNvSpPr>
            <a:spLocks noGrp="1"/>
          </p:cNvSpPr>
          <p:nvPr/>
        </p:nvSpPr>
        <p:spPr>
          <a:xfrm>
            <a:off x="3086100" y="3514725"/>
            <a:ext cx="133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PNF worker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runtime</a:t>
            </a:r>
          </a:p>
        </p:txBody>
      </p:sp>
      <p:sp>
        <p:nvSpPr>
          <p:cNvPr id="42" name="radio-fhi">
            <a:extLst>
              <a:ext uri="{FF2B5EF4-FFF2-40B4-BE49-F238E27FC236}">
                <a16:creationId xmlns:a16="http://schemas.microsoft.com/office/drawing/2014/main" id="{E8602190-E1D6-4563-A49E-7B1AEBD7BB72}"/>
              </a:ext>
            </a:extLst>
          </p:cNvPr>
          <p:cNvSpPr>
            <a:spLocks noGrp="1"/>
          </p:cNvSpPr>
          <p:nvPr/>
        </p:nvSpPr>
        <p:spPr>
          <a:xfrm>
            <a:off x="4762500" y="3571875"/>
            <a:ext cx="1447800" cy="666750"/>
          </a:xfrm>
          <a:prstGeom prst="roundRect">
            <a:avLst>
              <a:gd name="adj" fmla="val 11429"/>
            </a:avLst>
          </a:prstGeom>
          <a:solidFill>
            <a:srgbClr val="F7F9FF"/>
          </a:solidFill>
          <a:ln w="14288">
            <a:solidFill>
              <a:srgbClr val="0B0B67"/>
            </a:solidFill>
            <a:prstDash val="solid"/>
          </a:ln>
        </p:spPr>
      </p:sp>
      <p:sp>
        <p:nvSpPr>
          <p:cNvPr id="43" name="radio-fhi-text">
            <a:extLst>
              <a:ext uri="{FF2B5EF4-FFF2-40B4-BE49-F238E27FC236}">
                <a16:creationId xmlns:a16="http://schemas.microsoft.com/office/drawing/2014/main" id="{BCD59496-5F01-4672-ABB0-BAFE4EA9848A}"/>
              </a:ext>
            </a:extLst>
          </p:cNvPr>
          <p:cNvSpPr>
            <a:spLocks noGrp="1"/>
          </p:cNvSpPr>
          <p:nvPr/>
        </p:nvSpPr>
        <p:spPr>
          <a:xfrm>
            <a:off x="4819650" y="36195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O-RAN FHI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7.2</a:t>
            </a:r>
          </a:p>
        </p:txBody>
      </p:sp>
      <p:sp>
        <p:nvSpPr>
          <p:cNvPr id="44" name="radio-oru">
            <a:extLst>
              <a:ext uri="{FF2B5EF4-FFF2-40B4-BE49-F238E27FC236}">
                <a16:creationId xmlns:a16="http://schemas.microsoft.com/office/drawing/2014/main" id="{46B63CB3-BCEF-4604-820E-33DCC8000518}"/>
              </a:ext>
            </a:extLst>
          </p:cNvPr>
          <p:cNvSpPr>
            <a:spLocks noGrp="1"/>
          </p:cNvSpPr>
          <p:nvPr/>
        </p:nvSpPr>
        <p:spPr>
          <a:xfrm>
            <a:off x="6496050" y="3571875"/>
            <a:ext cx="1447800" cy="666750"/>
          </a:xfrm>
          <a:prstGeom prst="roundRect">
            <a:avLst>
              <a:gd name="adj" fmla="val 11429"/>
            </a:avLst>
          </a:prstGeom>
          <a:solidFill>
            <a:srgbClr val="F7F9FF"/>
          </a:solidFill>
          <a:ln w="14288">
            <a:solidFill>
              <a:srgbClr val="0B0B67"/>
            </a:solidFill>
            <a:prstDash val="solid"/>
          </a:ln>
        </p:spPr>
      </p:sp>
      <p:sp>
        <p:nvSpPr>
          <p:cNvPr id="45" name="radio-oru-text">
            <a:extLst>
              <a:ext uri="{FF2B5EF4-FFF2-40B4-BE49-F238E27FC236}">
                <a16:creationId xmlns:a16="http://schemas.microsoft.com/office/drawing/2014/main" id="{EDC2226F-7AB7-45C7-951B-16E469F01C95}"/>
              </a:ext>
            </a:extLst>
          </p:cNvPr>
          <p:cNvSpPr>
            <a:spLocks noGrp="1"/>
          </p:cNvSpPr>
          <p:nvPr/>
        </p:nvSpPr>
        <p:spPr>
          <a:xfrm>
            <a:off x="6553200" y="36195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Pegatron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O-RU</a:t>
            </a:r>
          </a:p>
        </p:txBody>
      </p:sp>
      <p:sp>
        <p:nvSpPr>
          <p:cNvPr id="46" name="radio-ue">
            <a:extLst>
              <a:ext uri="{FF2B5EF4-FFF2-40B4-BE49-F238E27FC236}">
                <a16:creationId xmlns:a16="http://schemas.microsoft.com/office/drawing/2014/main" id="{F8A3DEEF-8D1C-43E1-B92C-0AF34EF719E5}"/>
              </a:ext>
            </a:extLst>
          </p:cNvPr>
          <p:cNvSpPr>
            <a:spLocks noGrp="1"/>
          </p:cNvSpPr>
          <p:nvPr/>
        </p:nvSpPr>
        <p:spPr>
          <a:xfrm>
            <a:off x="8229600" y="3571875"/>
            <a:ext cx="1447800" cy="666750"/>
          </a:xfrm>
          <a:prstGeom prst="roundRect">
            <a:avLst>
              <a:gd name="adj" fmla="val 11429"/>
            </a:avLst>
          </a:prstGeom>
          <a:solidFill>
            <a:srgbClr val="F7F9FF"/>
          </a:solidFill>
          <a:ln w="14288">
            <a:solidFill>
              <a:srgbClr val="0B0B67"/>
            </a:solidFill>
            <a:prstDash val="solid"/>
          </a:ln>
        </p:spPr>
      </p:sp>
      <p:sp>
        <p:nvSpPr>
          <p:cNvPr id="47" name="radio-ue-text">
            <a:extLst>
              <a:ext uri="{FF2B5EF4-FFF2-40B4-BE49-F238E27FC236}">
                <a16:creationId xmlns:a16="http://schemas.microsoft.com/office/drawing/2014/main" id="{71C2523C-8144-4D45-BFC6-B79CBE962DED}"/>
              </a:ext>
            </a:extLst>
          </p:cNvPr>
          <p:cNvSpPr>
            <a:spLocks noGrp="1"/>
          </p:cNvSpPr>
          <p:nvPr/>
        </p:nvSpPr>
        <p:spPr>
          <a:xfrm>
            <a:off x="8286750" y="36195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Samsung</a:t>
            </a:r>
          </a:p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UE</a:t>
            </a:r>
          </a:p>
        </p:txBody>
      </p:sp>
      <p:sp>
        <p:nvSpPr>
          <p:cNvPr id="48" name="radio-core">
            <a:extLst>
              <a:ext uri="{FF2B5EF4-FFF2-40B4-BE49-F238E27FC236}">
                <a16:creationId xmlns:a16="http://schemas.microsoft.com/office/drawing/2014/main" id="{10019B60-D9D5-4B41-A75A-933218C3B99B}"/>
              </a:ext>
            </a:extLst>
          </p:cNvPr>
          <p:cNvSpPr>
            <a:spLocks noGrp="1"/>
          </p:cNvSpPr>
          <p:nvPr/>
        </p:nvSpPr>
        <p:spPr>
          <a:xfrm>
            <a:off x="9963150" y="3571875"/>
            <a:ext cx="1447800" cy="666750"/>
          </a:xfrm>
          <a:prstGeom prst="roundRect">
            <a:avLst>
              <a:gd name="adj" fmla="val 11429"/>
            </a:avLst>
          </a:prstGeom>
          <a:solidFill>
            <a:srgbClr val="F7F9FF"/>
          </a:solidFill>
          <a:ln w="14288">
            <a:solidFill>
              <a:srgbClr val="0B0B67"/>
            </a:solidFill>
            <a:prstDash val="solid"/>
          </a:ln>
        </p:spPr>
      </p:sp>
      <p:sp>
        <p:nvSpPr>
          <p:cNvPr id="49" name="radio-core-text">
            <a:extLst>
              <a:ext uri="{FF2B5EF4-FFF2-40B4-BE49-F238E27FC236}">
                <a16:creationId xmlns:a16="http://schemas.microsoft.com/office/drawing/2014/main" id="{56E3BE07-A04E-4596-A041-9B5E7EC0CFA3}"/>
              </a:ext>
            </a:extLst>
          </p:cNvPr>
          <p:cNvSpPr>
            <a:spLocks noGrp="1"/>
          </p:cNvSpPr>
          <p:nvPr/>
        </p:nvSpPr>
        <p:spPr>
          <a:xfrm>
            <a:off x="10020300" y="3619500"/>
            <a:ext cx="133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iPerf /</a:t>
            </a:r>
          </a:p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Open5GS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D232364-331B-4FBB-8300-7C81A6DE33E5}"/>
              </a:ext>
            </a:extLst>
          </p:cNvPr>
          <p:cNvSpPr>
            <a:spLocks noGrp="1"/>
          </p:cNvSpPr>
          <p:nvPr/>
        </p:nvSpPr>
        <p:spPr>
          <a:xfrm>
            <a:off x="3002352" y="32385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200" b="1" i="0" dirty="0" err="1">
                <a:solidFill>
                  <a:srgbClr val="0B0B67"/>
                </a:solidFill>
                <a:latin typeface="Arial"/>
                <a:ea typeface="Arial"/>
                <a:cs typeface="Arial"/>
              </a:rPr>
              <a:t>nFAPI</a:t>
            </a:r>
            <a:r>
              <a:rPr sz="12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 P5/P7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7F2DFE5-F352-4628-9DE3-F3F7B7886D82}"/>
              </a:ext>
            </a:extLst>
          </p:cNvPr>
          <p:cNvSpPr>
            <a:spLocks noGrp="1"/>
          </p:cNvSpPr>
          <p:nvPr/>
        </p:nvSpPr>
        <p:spPr>
          <a:xfrm>
            <a:off x="2933700" y="4352925"/>
            <a:ext cx="1657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125" b="0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endParaRPr sz="1125" b="0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8854DC2-8253-44E0-8DB6-8897F144450A}"/>
              </a:ext>
            </a:extLst>
          </p:cNvPr>
          <p:cNvSpPr>
            <a:spLocks noGrp="1"/>
          </p:cNvSpPr>
          <p:nvPr/>
        </p:nvSpPr>
        <p:spPr>
          <a:xfrm>
            <a:off x="7810500" y="32766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2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RF</a:t>
            </a:r>
          </a:p>
        </p:txBody>
      </p:sp>
      <p:sp>
        <p:nvSpPr>
          <p:cNvPr id="53" name="measure-rapp">
            <a:extLst>
              <a:ext uri="{FF2B5EF4-FFF2-40B4-BE49-F238E27FC236}">
                <a16:creationId xmlns:a16="http://schemas.microsoft.com/office/drawing/2014/main" id="{B740CF7D-1362-4D26-9690-805E3239360E}"/>
              </a:ext>
            </a:extLst>
          </p:cNvPr>
          <p:cNvSpPr>
            <a:spLocks noGrp="1"/>
          </p:cNvSpPr>
          <p:nvPr/>
        </p:nvSpPr>
        <p:spPr>
          <a:xfrm>
            <a:off x="1123950" y="5410200"/>
            <a:ext cx="1866900" cy="609600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 w="14288">
            <a:solidFill>
              <a:srgbClr val="3A8B63"/>
            </a:solidFill>
            <a:prstDash val="solid"/>
          </a:ln>
        </p:spPr>
      </p:sp>
      <p:sp>
        <p:nvSpPr>
          <p:cNvPr id="54" name="measure-rapp-text">
            <a:extLst>
              <a:ext uri="{FF2B5EF4-FFF2-40B4-BE49-F238E27FC236}">
                <a16:creationId xmlns:a16="http://schemas.microsoft.com/office/drawing/2014/main" id="{61F3E8C0-AC77-4F7A-BF1B-2E1AA85C574A}"/>
              </a:ext>
            </a:extLst>
          </p:cNvPr>
          <p:cNvSpPr>
            <a:spLocks noGrp="1"/>
          </p:cNvSpPr>
          <p:nvPr/>
        </p:nvSpPr>
        <p:spPr>
          <a:xfrm>
            <a:off x="1181100" y="5457825"/>
            <a:ext cx="1752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rApp / artifacts</a:t>
            </a:r>
          </a:p>
        </p:txBody>
      </p:sp>
      <p:sp>
        <p:nvSpPr>
          <p:cNvPr id="55" name="measure-pdu">
            <a:extLst>
              <a:ext uri="{FF2B5EF4-FFF2-40B4-BE49-F238E27FC236}">
                <a16:creationId xmlns:a16="http://schemas.microsoft.com/office/drawing/2014/main" id="{9282BADA-371B-48B8-95ED-6D639EE8430E}"/>
              </a:ext>
            </a:extLst>
          </p:cNvPr>
          <p:cNvSpPr>
            <a:spLocks noGrp="1"/>
          </p:cNvSpPr>
          <p:nvPr/>
        </p:nvSpPr>
        <p:spPr>
          <a:xfrm>
            <a:off x="3276600" y="5410200"/>
            <a:ext cx="1866900" cy="609600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 w="14288">
            <a:solidFill>
              <a:srgbClr val="3A8B63"/>
            </a:solidFill>
            <a:prstDash val="solid"/>
          </a:ln>
        </p:spPr>
      </p:sp>
      <p:sp>
        <p:nvSpPr>
          <p:cNvPr id="56" name="measure-pdu-text">
            <a:extLst>
              <a:ext uri="{FF2B5EF4-FFF2-40B4-BE49-F238E27FC236}">
                <a16:creationId xmlns:a16="http://schemas.microsoft.com/office/drawing/2014/main" id="{B2D2D99D-D0D7-46CA-9717-9DFE6F230C55}"/>
              </a:ext>
            </a:extLst>
          </p:cNvPr>
          <p:cNvSpPr>
            <a:spLocks noGrp="1"/>
          </p:cNvSpPr>
          <p:nvPr/>
        </p:nvSpPr>
        <p:spPr>
          <a:xfrm>
            <a:off x="3333750" y="5457825"/>
            <a:ext cx="1752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PDU Outlet 2</a:t>
            </a:r>
          </a:p>
        </p:txBody>
      </p:sp>
      <p:sp>
        <p:nvSpPr>
          <p:cNvPr id="57" name="measure-influx">
            <a:extLst>
              <a:ext uri="{FF2B5EF4-FFF2-40B4-BE49-F238E27FC236}">
                <a16:creationId xmlns:a16="http://schemas.microsoft.com/office/drawing/2014/main" id="{0B588623-CF65-414B-96E1-5785BD367CF1}"/>
              </a:ext>
            </a:extLst>
          </p:cNvPr>
          <p:cNvSpPr>
            <a:spLocks noGrp="1"/>
          </p:cNvSpPr>
          <p:nvPr/>
        </p:nvSpPr>
        <p:spPr>
          <a:xfrm>
            <a:off x="5429250" y="5410200"/>
            <a:ext cx="1866900" cy="609600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 w="14288">
            <a:solidFill>
              <a:srgbClr val="3A8B63"/>
            </a:solidFill>
            <a:prstDash val="solid"/>
          </a:ln>
        </p:spPr>
      </p:sp>
      <p:sp>
        <p:nvSpPr>
          <p:cNvPr id="58" name="measure-influx-text">
            <a:extLst>
              <a:ext uri="{FF2B5EF4-FFF2-40B4-BE49-F238E27FC236}">
                <a16:creationId xmlns:a16="http://schemas.microsoft.com/office/drawing/2014/main" id="{CE8446F7-992A-4BAD-AF4E-A00B39FFDEF8}"/>
              </a:ext>
            </a:extLst>
          </p:cNvPr>
          <p:cNvSpPr>
            <a:spLocks noGrp="1"/>
          </p:cNvSpPr>
          <p:nvPr/>
        </p:nvSpPr>
        <p:spPr>
          <a:xfrm>
            <a:off x="5486400" y="5457825"/>
            <a:ext cx="1752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InfluxDB</a:t>
            </a:r>
          </a:p>
        </p:txBody>
      </p:sp>
      <p:sp>
        <p:nvSpPr>
          <p:cNvPr id="59" name="measure-merge">
            <a:extLst>
              <a:ext uri="{FF2B5EF4-FFF2-40B4-BE49-F238E27FC236}">
                <a16:creationId xmlns:a16="http://schemas.microsoft.com/office/drawing/2014/main" id="{DBED3596-CBCE-4211-AE50-8EC8233CD5B4}"/>
              </a:ext>
            </a:extLst>
          </p:cNvPr>
          <p:cNvSpPr>
            <a:spLocks noGrp="1"/>
          </p:cNvSpPr>
          <p:nvPr/>
        </p:nvSpPr>
        <p:spPr>
          <a:xfrm>
            <a:off x="7581900" y="5410200"/>
            <a:ext cx="1866900" cy="609600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 w="14288">
            <a:solidFill>
              <a:srgbClr val="3A8B63"/>
            </a:solidFill>
            <a:prstDash val="solid"/>
          </a:ln>
        </p:spPr>
      </p:sp>
      <p:sp>
        <p:nvSpPr>
          <p:cNvPr id="60" name="measure-merge-text">
            <a:extLst>
              <a:ext uri="{FF2B5EF4-FFF2-40B4-BE49-F238E27FC236}">
                <a16:creationId xmlns:a16="http://schemas.microsoft.com/office/drawing/2014/main" id="{9C84505E-F1E8-4102-973E-A3E6ADBBC792}"/>
              </a:ext>
            </a:extLst>
          </p:cNvPr>
          <p:cNvSpPr>
            <a:spLocks noGrp="1"/>
          </p:cNvSpPr>
          <p:nvPr/>
        </p:nvSpPr>
        <p:spPr>
          <a:xfrm>
            <a:off x="7639050" y="5457825"/>
            <a:ext cx="1752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Time merge</a:t>
            </a:r>
          </a:p>
        </p:txBody>
      </p:sp>
      <p:sp>
        <p:nvSpPr>
          <p:cNvPr id="61" name="measure-plots">
            <a:extLst>
              <a:ext uri="{FF2B5EF4-FFF2-40B4-BE49-F238E27FC236}">
                <a16:creationId xmlns:a16="http://schemas.microsoft.com/office/drawing/2014/main" id="{1467B2FA-EDF8-4934-84FE-32818D1561A7}"/>
              </a:ext>
            </a:extLst>
          </p:cNvPr>
          <p:cNvSpPr>
            <a:spLocks noGrp="1"/>
          </p:cNvSpPr>
          <p:nvPr/>
        </p:nvSpPr>
        <p:spPr>
          <a:xfrm>
            <a:off x="9734550" y="5410200"/>
            <a:ext cx="1676400" cy="609600"/>
          </a:xfrm>
          <a:prstGeom prst="roundRect">
            <a:avLst>
              <a:gd name="adj" fmla="val 12500"/>
            </a:avLst>
          </a:prstGeom>
          <a:solidFill>
            <a:srgbClr val="EAF6EF"/>
          </a:solidFill>
          <a:ln w="14288">
            <a:solidFill>
              <a:srgbClr val="3A8B63"/>
            </a:solidFill>
            <a:prstDash val="solid"/>
          </a:ln>
        </p:spPr>
      </p:sp>
      <p:sp>
        <p:nvSpPr>
          <p:cNvPr id="62" name="measure-plots-text">
            <a:extLst>
              <a:ext uri="{FF2B5EF4-FFF2-40B4-BE49-F238E27FC236}">
                <a16:creationId xmlns:a16="http://schemas.microsoft.com/office/drawing/2014/main" id="{A8F2B5D3-82CE-40DF-9D70-3388072CB199}"/>
              </a:ext>
            </a:extLst>
          </p:cNvPr>
          <p:cNvSpPr>
            <a:spLocks noGrp="1"/>
          </p:cNvSpPr>
          <p:nvPr/>
        </p:nvSpPr>
        <p:spPr>
          <a:xfrm>
            <a:off x="9791700" y="5457825"/>
            <a:ext cx="1562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Plots</a:t>
            </a:r>
          </a:p>
        </p:txBody>
      </p:sp>
    </p:spTree>
    <p:extLst>
      <p:ext uri="{BB962C8B-B14F-4D97-AF65-F5344CB8AC3E}">
        <p14:creationId xmlns:p14="http://schemas.microsoft.com/office/powerpoint/2010/main" val="334287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49DE50AA-1608-436F-AD74-C36DC330155B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D484CD26-EE8E-46A3-93B7-976E1B07E2C4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2B3A9-A25D-4FAA-90DA-8A27FB5424ED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722266-9D42-4A96-BD69-53C3A42F5C14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3">
            <a:extLst>
              <a:ext uri="{FF2B5EF4-FFF2-40B4-BE49-F238E27FC236}">
                <a16:creationId xmlns:a16="http://schemas.microsoft.com/office/drawing/2014/main" id="{2508A2D7-6FB2-4AB9-A182-767FD50B4ED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3">
            <a:extLst>
              <a:ext uri="{FF2B5EF4-FFF2-40B4-BE49-F238E27FC236}">
                <a16:creationId xmlns:a16="http://schemas.microsoft.com/office/drawing/2014/main" id="{D6684AF0-0F50-4F91-83D2-3A8661F097A9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itle-3">
            <a:extLst>
              <a:ext uri="{FF2B5EF4-FFF2-40B4-BE49-F238E27FC236}">
                <a16:creationId xmlns:a16="http://schemas.microsoft.com/office/drawing/2014/main" id="{0A201638-40D3-41A5-B3AC-30C2014423B9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7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75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Checklist</a:t>
            </a:r>
            <a:endParaRPr sz="375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D28679-C518-4D8D-B63C-482E9E0498CF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3419F0-2D64-4DE5-9B57-491E35FF099A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3875A64-C74E-4109-8899-DB5E89BD3BD8}"/>
              </a:ext>
            </a:extLst>
          </p:cNvPr>
          <p:cNvSpPr>
            <a:spLocks noGrp="1"/>
          </p:cNvSpPr>
          <p:nvPr/>
        </p:nvSpPr>
        <p:spPr>
          <a:xfrm>
            <a:off x="819150" y="1562100"/>
            <a:ext cx="7239000" cy="590550"/>
          </a:xfrm>
          <a:prstGeom prst="roundRect">
            <a:avLst>
              <a:gd name="adj" fmla="val 12903"/>
            </a:avLst>
          </a:prstGeom>
          <a:solidFill>
            <a:srgbClr val="EAF6EF"/>
          </a:solidFill>
          <a:ln w="11430">
            <a:solidFill>
              <a:srgbClr val="B8DEC8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7150CE9-50DD-4727-9637-C99019BFD107}"/>
              </a:ext>
            </a:extLst>
          </p:cNvPr>
          <p:cNvSpPr>
            <a:spLocks noGrp="1"/>
          </p:cNvSpPr>
          <p:nvPr/>
        </p:nvSpPr>
        <p:spPr>
          <a:xfrm>
            <a:off x="990600" y="1695450"/>
            <a:ext cx="819150" cy="323850"/>
          </a:xfrm>
          <a:prstGeom prst="roundRect">
            <a:avLst>
              <a:gd name="adj" fmla="val 23529"/>
            </a:avLst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EC5D0-2C95-4CF0-9F9D-3B557830D486}"/>
              </a:ext>
            </a:extLst>
          </p:cNvPr>
          <p:cNvSpPr>
            <a:spLocks noGrp="1"/>
          </p:cNvSpPr>
          <p:nvPr/>
        </p:nvSpPr>
        <p:spPr>
          <a:xfrm>
            <a:off x="990600" y="169545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14" name="progress-1">
            <a:extLst>
              <a:ext uri="{FF2B5EF4-FFF2-40B4-BE49-F238E27FC236}">
                <a16:creationId xmlns:a16="http://schemas.microsoft.com/office/drawing/2014/main" id="{1F190B46-3821-413D-B083-7BC0EDAB4A79}"/>
              </a:ext>
            </a:extLst>
          </p:cNvPr>
          <p:cNvSpPr>
            <a:spLocks noGrp="1"/>
          </p:cNvSpPr>
          <p:nvPr/>
        </p:nvSpPr>
        <p:spPr>
          <a:xfrm>
            <a:off x="2019300" y="1609725"/>
            <a:ext cx="582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78" lnSpcReduction="10000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Restored Jenkins and Quay</a:t>
            </a:r>
            <a:r>
              <a:rPr lang="en-US"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,</a:t>
            </a:r>
            <a:r>
              <a:rPr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built 54- and 104-PRB images.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04BF533-C32A-46A7-B8E8-4F2EE7596DEA}"/>
              </a:ext>
            </a:extLst>
          </p:cNvPr>
          <p:cNvSpPr>
            <a:spLocks noGrp="1"/>
          </p:cNvSpPr>
          <p:nvPr/>
        </p:nvSpPr>
        <p:spPr>
          <a:xfrm>
            <a:off x="819150" y="2324100"/>
            <a:ext cx="7239000" cy="590550"/>
          </a:xfrm>
          <a:prstGeom prst="roundRect">
            <a:avLst>
              <a:gd name="adj" fmla="val 12903"/>
            </a:avLst>
          </a:prstGeom>
          <a:solidFill>
            <a:srgbClr val="EAF6EF"/>
          </a:solidFill>
          <a:ln w="11430">
            <a:solidFill>
              <a:srgbClr val="B8DEC8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E76C6A7-8BE0-4DB3-949B-623584B20523}"/>
              </a:ext>
            </a:extLst>
          </p:cNvPr>
          <p:cNvSpPr>
            <a:spLocks noGrp="1"/>
          </p:cNvSpPr>
          <p:nvPr/>
        </p:nvSpPr>
        <p:spPr>
          <a:xfrm>
            <a:off x="990600" y="2457450"/>
            <a:ext cx="819150" cy="323850"/>
          </a:xfrm>
          <a:prstGeom prst="roundRect">
            <a:avLst>
              <a:gd name="adj" fmla="val 23529"/>
            </a:avLst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82D8FF-0AB2-4D7F-ADF4-65B0A68F66B9}"/>
              </a:ext>
            </a:extLst>
          </p:cNvPr>
          <p:cNvSpPr>
            <a:spLocks noGrp="1"/>
          </p:cNvSpPr>
          <p:nvPr/>
        </p:nvSpPr>
        <p:spPr>
          <a:xfrm>
            <a:off x="990600" y="245745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18" name="progress-2">
            <a:extLst>
              <a:ext uri="{FF2B5EF4-FFF2-40B4-BE49-F238E27FC236}">
                <a16:creationId xmlns:a16="http://schemas.microsoft.com/office/drawing/2014/main" id="{15656BA4-87AB-49E6-9AA9-58CA42533267}"/>
              </a:ext>
            </a:extLst>
          </p:cNvPr>
          <p:cNvSpPr>
            <a:spLocks noGrp="1"/>
          </p:cNvSpPr>
          <p:nvPr/>
        </p:nvSpPr>
        <p:spPr>
          <a:xfrm>
            <a:off x="2019300" y="2371725"/>
            <a:ext cx="582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78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Validated with scheduler telemetry</a:t>
            </a:r>
            <a:r>
              <a:rPr lang="en-US"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&amp; throughput data</a:t>
            </a:r>
            <a:endParaRPr sz="1800" b="1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C76A041-72AC-41A6-8375-1DD12962625C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7239000" cy="590550"/>
          </a:xfrm>
          <a:prstGeom prst="roundRect">
            <a:avLst>
              <a:gd name="adj" fmla="val 12903"/>
            </a:avLst>
          </a:prstGeom>
          <a:solidFill>
            <a:srgbClr val="EAF6EF"/>
          </a:solidFill>
          <a:ln w="11430">
            <a:solidFill>
              <a:srgbClr val="B8DEC8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EC24B75-D836-49DC-B9E1-5531D9B20DB9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819150" cy="323850"/>
          </a:xfrm>
          <a:prstGeom prst="roundRect">
            <a:avLst>
              <a:gd name="adj" fmla="val 23529"/>
            </a:avLst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DCFBC3-2212-488F-A5E6-37BA9FEF02D7}"/>
              </a:ext>
            </a:extLst>
          </p:cNvPr>
          <p:cNvSpPr>
            <a:spLocks noGrp="1"/>
          </p:cNvSpPr>
          <p:nvPr/>
        </p:nvSpPr>
        <p:spPr>
          <a:xfrm>
            <a:off x="990600" y="321945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22" name="progress-3">
            <a:extLst>
              <a:ext uri="{FF2B5EF4-FFF2-40B4-BE49-F238E27FC236}">
                <a16:creationId xmlns:a16="http://schemas.microsoft.com/office/drawing/2014/main" id="{2D362A4A-AA2C-4490-B435-49ECF785F757}"/>
              </a:ext>
            </a:extLst>
          </p:cNvPr>
          <p:cNvSpPr>
            <a:spLocks noGrp="1"/>
          </p:cNvSpPr>
          <p:nvPr/>
        </p:nvSpPr>
        <p:spPr>
          <a:xfrm>
            <a:off x="2019300" y="3133725"/>
            <a:ext cx="582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78" lnSpcReduction="10000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Completed the 900 Mbps 27-/54-/104-PRB and OAI latest comparison.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3F00326-BCF0-41FF-B98B-4CAB4C05633A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7239000" cy="590550"/>
          </a:xfrm>
          <a:prstGeom prst="roundRect">
            <a:avLst>
              <a:gd name="adj" fmla="val 12903"/>
            </a:avLst>
          </a:prstGeom>
          <a:solidFill>
            <a:srgbClr val="EAF6EF"/>
          </a:solidFill>
          <a:ln w="11430">
            <a:solidFill>
              <a:srgbClr val="B8DEC8"/>
            </a:solidFill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FD45C38-18F2-4F3A-868C-36274BC887CC}"/>
              </a:ext>
            </a:extLst>
          </p:cNvPr>
          <p:cNvSpPr>
            <a:spLocks noGrp="1"/>
          </p:cNvSpPr>
          <p:nvPr/>
        </p:nvSpPr>
        <p:spPr>
          <a:xfrm>
            <a:off x="990600" y="3981450"/>
            <a:ext cx="819150" cy="323850"/>
          </a:xfrm>
          <a:prstGeom prst="roundRect">
            <a:avLst>
              <a:gd name="adj" fmla="val 23529"/>
            </a:avLst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D91C0C-23AB-4A4D-8076-A284611F98CE}"/>
              </a:ext>
            </a:extLst>
          </p:cNvPr>
          <p:cNvSpPr>
            <a:spLocks noGrp="1"/>
          </p:cNvSpPr>
          <p:nvPr/>
        </p:nvSpPr>
        <p:spPr>
          <a:xfrm>
            <a:off x="990600" y="398145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DONE</a:t>
            </a:r>
          </a:p>
        </p:txBody>
      </p:sp>
      <p:sp>
        <p:nvSpPr>
          <p:cNvPr id="26" name="progress-4">
            <a:extLst>
              <a:ext uri="{FF2B5EF4-FFF2-40B4-BE49-F238E27FC236}">
                <a16:creationId xmlns:a16="http://schemas.microsoft.com/office/drawing/2014/main" id="{A70F1C2C-8E1A-4A10-9B73-68B1493F5B6D}"/>
              </a:ext>
            </a:extLst>
          </p:cNvPr>
          <p:cNvSpPr>
            <a:spLocks noGrp="1"/>
          </p:cNvSpPr>
          <p:nvPr/>
        </p:nvSpPr>
        <p:spPr>
          <a:xfrm>
            <a:off x="2019300" y="3895725"/>
            <a:ext cx="582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78" lnSpcReduction="10000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P</a:t>
            </a:r>
            <a:r>
              <a:rPr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ower-aligned the OAI latest curve through 600 Mbps.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4B6A7EC-50C9-4967-B4FE-E4079DA3ED3C}"/>
              </a:ext>
            </a:extLst>
          </p:cNvPr>
          <p:cNvSpPr>
            <a:spLocks noGrp="1"/>
          </p:cNvSpPr>
          <p:nvPr/>
        </p:nvSpPr>
        <p:spPr>
          <a:xfrm>
            <a:off x="819150" y="4610100"/>
            <a:ext cx="7239000" cy="590550"/>
          </a:xfrm>
          <a:prstGeom prst="roundRect">
            <a:avLst>
              <a:gd name="adj" fmla="val 12903"/>
            </a:avLst>
          </a:prstGeom>
          <a:solidFill>
            <a:srgbClr val="FFF4DD"/>
          </a:solidFill>
          <a:ln w="11430">
            <a:solidFill>
              <a:srgbClr val="F5C66D"/>
            </a:solidFill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BF90706-DABE-4F10-8A52-E48D7EC9D6B9}"/>
              </a:ext>
            </a:extLst>
          </p:cNvPr>
          <p:cNvSpPr>
            <a:spLocks noGrp="1"/>
          </p:cNvSpPr>
          <p:nvPr/>
        </p:nvSpPr>
        <p:spPr>
          <a:xfrm>
            <a:off x="990600" y="4743450"/>
            <a:ext cx="819150" cy="323850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989D2F-7CEB-4F87-9924-EAF62B9B6C0D}"/>
              </a:ext>
            </a:extLst>
          </p:cNvPr>
          <p:cNvSpPr>
            <a:spLocks noGrp="1"/>
          </p:cNvSpPr>
          <p:nvPr/>
        </p:nvSpPr>
        <p:spPr>
          <a:xfrm>
            <a:off x="990600" y="4743450"/>
            <a:ext cx="819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</a:t>
            </a:r>
          </a:p>
        </p:txBody>
      </p:sp>
      <p:sp>
        <p:nvSpPr>
          <p:cNvPr id="30" name="progress-5">
            <a:extLst>
              <a:ext uri="{FF2B5EF4-FFF2-40B4-BE49-F238E27FC236}">
                <a16:creationId xmlns:a16="http://schemas.microsoft.com/office/drawing/2014/main" id="{87EBD9D5-72BA-409C-844E-5CED44519169}"/>
              </a:ext>
            </a:extLst>
          </p:cNvPr>
          <p:cNvSpPr>
            <a:spLocks noGrp="1"/>
          </p:cNvSpPr>
          <p:nvPr/>
        </p:nvSpPr>
        <p:spPr>
          <a:xfrm>
            <a:off x="2019300" y="4657725"/>
            <a:ext cx="58293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778" lnSpcReduction="10000"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Complete 700-900 Mbps</a:t>
            </a:r>
            <a:r>
              <a:rPr lang="en-US"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, finish incomplete runs,</a:t>
            </a:r>
            <a:r>
              <a:rPr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and </a:t>
            </a:r>
            <a:r>
              <a:rPr lang="en-US" sz="1800" b="1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modify &amp; test OAI scheduler burst-types</a:t>
            </a:r>
            <a:endParaRPr sz="1800" b="1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2C24AFA-11F8-488F-B2F2-DBB0C94A6A6E}"/>
              </a:ext>
            </a:extLst>
          </p:cNvPr>
          <p:cNvSpPr>
            <a:spLocks noGrp="1"/>
          </p:cNvSpPr>
          <p:nvPr/>
        </p:nvSpPr>
        <p:spPr>
          <a:xfrm>
            <a:off x="8420100" y="1657350"/>
            <a:ext cx="2933700" cy="2533650"/>
          </a:xfrm>
          <a:prstGeom prst="roundRect">
            <a:avLst>
              <a:gd name="adj" fmla="val 3008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DB9FC6-FDAC-485C-8656-212DD41C149B}"/>
              </a:ext>
            </a:extLst>
          </p:cNvPr>
          <p:cNvSpPr>
            <a:spLocks noGrp="1"/>
          </p:cNvSpPr>
          <p:nvPr/>
        </p:nvSpPr>
        <p:spPr>
          <a:xfrm>
            <a:off x="8591550" y="1828800"/>
            <a:ext cx="66675" cy="21907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33" name="checklist-callout-title">
            <a:extLst>
              <a:ext uri="{FF2B5EF4-FFF2-40B4-BE49-F238E27FC236}">
                <a16:creationId xmlns:a16="http://schemas.microsoft.com/office/drawing/2014/main" id="{24791C94-8582-42E1-89BE-CA56B844A248}"/>
              </a:ext>
            </a:extLst>
          </p:cNvPr>
          <p:cNvSpPr>
            <a:spLocks noGrp="1"/>
          </p:cNvSpPr>
          <p:nvPr/>
        </p:nvSpPr>
        <p:spPr>
          <a:xfrm>
            <a:off x="8820150" y="17716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Final checklist</a:t>
            </a:r>
          </a:p>
        </p:txBody>
      </p:sp>
      <p:sp>
        <p:nvSpPr>
          <p:cNvPr id="34" name="checklist-callout-body">
            <a:extLst>
              <a:ext uri="{FF2B5EF4-FFF2-40B4-BE49-F238E27FC236}">
                <a16:creationId xmlns:a16="http://schemas.microsoft.com/office/drawing/2014/main" id="{C9F60F76-604E-4620-97D0-990071F26120}"/>
              </a:ext>
            </a:extLst>
          </p:cNvPr>
          <p:cNvSpPr>
            <a:spLocks noGrp="1"/>
          </p:cNvSpPr>
          <p:nvPr/>
        </p:nvSpPr>
        <p:spPr>
          <a:xfrm>
            <a:off x="8820150" y="2114550"/>
            <a:ext cx="2381250" cy="198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65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Tracks reproducibility, VNF/PNF identities, baseline coverage, comparisons, uncertainty, model, dataset, report, and deck.</a:t>
            </a:r>
          </a:p>
        </p:txBody>
      </p:sp>
      <p:sp>
        <p:nvSpPr>
          <p:cNvPr id="35" name="checklist-link">
            <a:extLst>
              <a:ext uri="{FF2B5EF4-FFF2-40B4-BE49-F238E27FC236}">
                <a16:creationId xmlns:a16="http://schemas.microsoft.com/office/drawing/2014/main" id="{EF52A9F3-6EF5-486E-9D7D-78B3025788F1}"/>
              </a:ext>
            </a:extLst>
          </p:cNvPr>
          <p:cNvSpPr>
            <a:spLocks noGrp="1"/>
          </p:cNvSpPr>
          <p:nvPr/>
        </p:nvSpPr>
        <p:spPr>
          <a:xfrm>
            <a:off x="8705850" y="4267200"/>
            <a:ext cx="2362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245FD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5FD6"/>
                </a:solidFill>
                <a:latin typeface="Arial"/>
                <a:ea typeface="Arial"/>
                <a:cs typeface="Arial"/>
                <a:hlinkClick r:id="rId3"/>
              </a:rPr>
              <a:t>Open final checklist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3F21A8D-849E-4EC3-8688-61041309B562}"/>
              </a:ext>
            </a:extLst>
          </p:cNvPr>
          <p:cNvSpPr>
            <a:spLocks noGrp="1"/>
          </p:cNvSpPr>
          <p:nvPr/>
        </p:nvSpPr>
        <p:spPr>
          <a:xfrm>
            <a:off x="8401050" y="4953000"/>
            <a:ext cx="29718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6389"/>
          </a:bodyPr>
          <a:lstStyle/>
          <a:p>
            <a:pPr algn="ctr">
              <a:lnSpc>
                <a:spcPct val="100000"/>
              </a:lnSpc>
              <a:buNone/>
              <a:defRPr sz="1875" b="0" i="1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endParaRPr sz="1875" b="0" i="1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DAD668D8-E573-420A-ABE1-7C6B408335E8}"/>
              </a:ext>
            </a:extLst>
          </p:cNvPr>
          <p:cNvSpPr>
            <a:spLocks noGrp="1"/>
          </p:cNvSpPr>
          <p:nvPr/>
        </p:nvSpPr>
        <p:spPr>
          <a:xfrm>
            <a:off x="-704850" y="79375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38592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0DB9C9B-D157-4F7B-B48A-7943895CB980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D9CAD216-5D07-4F8A-9C7F-7A6B55A348F7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FE03C508-E2AF-485B-BA03-BB7B947EC058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C5F3E-1A05-4054-BD28-980DD35DBB2D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62AA1F-126D-4705-BB67-C7BDD0CAEE48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4">
            <a:extLst>
              <a:ext uri="{FF2B5EF4-FFF2-40B4-BE49-F238E27FC236}">
                <a16:creationId xmlns:a16="http://schemas.microsoft.com/office/drawing/2014/main" id="{586ECE09-1432-45AA-99B4-0F16FC6B2DDE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4">
            <a:extLst>
              <a:ext uri="{FF2B5EF4-FFF2-40B4-BE49-F238E27FC236}">
                <a16:creationId xmlns:a16="http://schemas.microsoft.com/office/drawing/2014/main" id="{2F1C261D-F4D1-4B4F-B7F2-685E9B9D173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8" name="title-4">
            <a:extLst>
              <a:ext uri="{FF2B5EF4-FFF2-40B4-BE49-F238E27FC236}">
                <a16:creationId xmlns:a16="http://schemas.microsoft.com/office/drawing/2014/main" id="{1E48403B-5CB9-423F-BCAE-0BC6D934C4F8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7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Measured scheduler behavior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518F154-F00B-4A14-8534-76FD326AF59C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30093A-0C3C-4DDB-AECE-23C967EBA403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C395E50-9817-4E7C-9935-015FA9A4E285}"/>
              </a:ext>
            </a:extLst>
          </p:cNvPr>
          <p:cNvSpPr>
            <a:spLocks noGrp="1"/>
          </p:cNvSpPr>
          <p:nvPr/>
        </p:nvSpPr>
        <p:spPr>
          <a:xfrm>
            <a:off x="609600" y="1485900"/>
            <a:ext cx="7810500" cy="4095750"/>
          </a:xfrm>
          <a:prstGeom prst="roundRect">
            <a:avLst>
              <a:gd name="adj" fmla="val 1860"/>
            </a:avLst>
          </a:prstGeom>
          <a:solidFill>
            <a:srgbClr val="07140F"/>
          </a:solidFill>
          <a:ln w="19050">
            <a:solidFill>
              <a:srgbClr val="3E73A5"/>
            </a:solidFill>
            <a:prstDash val="solid"/>
          </a:ln>
        </p:spPr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rcRect t="666" b="666"/>
          <a:stretch>
            <a:fillRect/>
          </a:stretch>
        </p:blipFill>
        <p:spPr>
          <a:xfrm>
            <a:off x="666750" y="1543050"/>
            <a:ext cx="7696200" cy="398145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355407-6DE2-474F-8C1F-0B4930393CF3}"/>
              </a:ext>
            </a:extLst>
          </p:cNvPr>
          <p:cNvSpPr>
            <a:spLocks noGrp="1"/>
          </p:cNvSpPr>
          <p:nvPr/>
        </p:nvSpPr>
        <p:spPr>
          <a:xfrm>
            <a:off x="8896350" y="1466850"/>
            <a:ext cx="2114550" cy="342900"/>
          </a:xfrm>
          <a:prstGeom prst="roundRect">
            <a:avLst>
              <a:gd name="adj" fmla="val 22222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7BB956-D0F2-484A-8FF8-AAA9C9C78DD7}"/>
              </a:ext>
            </a:extLst>
          </p:cNvPr>
          <p:cNvSpPr>
            <a:spLocks noGrp="1"/>
          </p:cNvSpPr>
          <p:nvPr/>
        </p:nvSpPr>
        <p:spPr>
          <a:xfrm>
            <a:off x="8896350" y="1466850"/>
            <a:ext cx="2114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OFFLINE PLAYBACK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47F99D-4A52-45A0-8036-66DABF339451}"/>
              </a:ext>
            </a:extLst>
          </p:cNvPr>
          <p:cNvSpPr>
            <a:spLocks noGrp="1"/>
          </p:cNvSpPr>
          <p:nvPr/>
        </p:nvSpPr>
        <p:spPr>
          <a:xfrm rot="2700000">
            <a:off x="8763000" y="2264569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6" name="dashboard-field-1">
            <a:extLst>
              <a:ext uri="{FF2B5EF4-FFF2-40B4-BE49-F238E27FC236}">
                <a16:creationId xmlns:a16="http://schemas.microsoft.com/office/drawing/2014/main" id="{E8B73603-0978-449F-A1B8-E96CD9AC12F6}"/>
              </a:ext>
            </a:extLst>
          </p:cNvPr>
          <p:cNvSpPr>
            <a:spLocks noGrp="1"/>
          </p:cNvSpPr>
          <p:nvPr/>
        </p:nvSpPr>
        <p:spPr>
          <a:xfrm>
            <a:off x="9029700" y="2038350"/>
            <a:ext cx="2628900" cy="5857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UE and connected-device identity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762177-5051-4A7D-AE2F-5A38899235D6}"/>
              </a:ext>
            </a:extLst>
          </p:cNvPr>
          <p:cNvSpPr>
            <a:spLocks noGrp="1"/>
          </p:cNvSpPr>
          <p:nvPr/>
        </p:nvSpPr>
        <p:spPr>
          <a:xfrm rot="2700000">
            <a:off x="8763000" y="2926556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8" name="dashboard-field-2">
            <a:extLst>
              <a:ext uri="{FF2B5EF4-FFF2-40B4-BE49-F238E27FC236}">
                <a16:creationId xmlns:a16="http://schemas.microsoft.com/office/drawing/2014/main" id="{260F28EF-67AB-45C7-A6A9-E895FDD78DBB}"/>
              </a:ext>
            </a:extLst>
          </p:cNvPr>
          <p:cNvSpPr>
            <a:spLocks noGrp="1"/>
          </p:cNvSpPr>
          <p:nvPr/>
        </p:nvSpPr>
        <p:spPr>
          <a:xfrm>
            <a:off x="9029700" y="2700338"/>
            <a:ext cx="2628900" cy="5857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New transmission vs. HARQ retransmission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55CB20-B80E-4765-AF16-BFC35D51BE5F}"/>
              </a:ext>
            </a:extLst>
          </p:cNvPr>
          <p:cNvSpPr>
            <a:spLocks noGrp="1"/>
          </p:cNvSpPr>
          <p:nvPr/>
        </p:nvSpPr>
        <p:spPr>
          <a:xfrm rot="2700000">
            <a:off x="8763000" y="3588544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0" name="dashboard-field-3">
            <a:extLst>
              <a:ext uri="{FF2B5EF4-FFF2-40B4-BE49-F238E27FC236}">
                <a16:creationId xmlns:a16="http://schemas.microsoft.com/office/drawing/2014/main" id="{1CE3C925-601C-4B15-8B14-7F383F088FF8}"/>
              </a:ext>
            </a:extLst>
          </p:cNvPr>
          <p:cNvSpPr>
            <a:spLocks noGrp="1"/>
          </p:cNvSpPr>
          <p:nvPr/>
        </p:nvSpPr>
        <p:spPr>
          <a:xfrm>
            <a:off x="9029700" y="3362325"/>
            <a:ext cx="2628900" cy="5857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Allocated PRB start and size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034A5B-F8B1-49C9-B29A-FD6F4B2CB082}"/>
              </a:ext>
            </a:extLst>
          </p:cNvPr>
          <p:cNvSpPr>
            <a:spLocks noGrp="1"/>
          </p:cNvSpPr>
          <p:nvPr/>
        </p:nvSpPr>
        <p:spPr>
          <a:xfrm rot="2700000">
            <a:off x="8763000" y="4250531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2" name="dashboard-field-4">
            <a:extLst>
              <a:ext uri="{FF2B5EF4-FFF2-40B4-BE49-F238E27FC236}">
                <a16:creationId xmlns:a16="http://schemas.microsoft.com/office/drawing/2014/main" id="{E3422981-2F34-4ECE-93B0-249B75C8E74B}"/>
              </a:ext>
            </a:extLst>
          </p:cNvPr>
          <p:cNvSpPr>
            <a:spLocks noGrp="1"/>
          </p:cNvSpPr>
          <p:nvPr/>
        </p:nvSpPr>
        <p:spPr>
          <a:xfrm>
            <a:off x="9029700" y="4024313"/>
            <a:ext cx="2628900" cy="58578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MCS, TBS, and HARQ process</a:t>
            </a:r>
          </a:p>
        </p:txBody>
      </p:sp>
      <p:sp>
        <p:nvSpPr>
          <p:cNvPr id="23" name="dashboard-link">
            <a:extLst>
              <a:ext uri="{FF2B5EF4-FFF2-40B4-BE49-F238E27FC236}">
                <a16:creationId xmlns:a16="http://schemas.microsoft.com/office/drawing/2014/main" id="{5075842E-4A71-473F-9454-25E612251EFB}"/>
              </a:ext>
            </a:extLst>
          </p:cNvPr>
          <p:cNvSpPr>
            <a:spLocks noGrp="1"/>
          </p:cNvSpPr>
          <p:nvPr/>
        </p:nvSpPr>
        <p:spPr>
          <a:xfrm>
            <a:off x="8743950" y="4857750"/>
            <a:ext cx="28765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245FD6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245FD6"/>
                </a:solidFill>
                <a:latin typeface="Arial"/>
                <a:ea typeface="Arial"/>
                <a:cs typeface="Arial"/>
                <a:hlinkClick r:id="rId4"/>
              </a:rPr>
              <a:t>Measured scheduler logs -&gt; </a:t>
            </a:r>
            <a:r>
              <a:rPr sz="1725" b="1" i="0" dirty="0" err="1">
                <a:solidFill>
                  <a:srgbClr val="245FD6"/>
                </a:solidFill>
                <a:latin typeface="Arial"/>
                <a:ea typeface="Arial"/>
                <a:cs typeface="Arial"/>
                <a:hlinkClick r:id="rId4"/>
              </a:rPr>
              <a:t>replayable</a:t>
            </a:r>
            <a:r>
              <a:rPr sz="1725" b="1" i="0" dirty="0">
                <a:solidFill>
                  <a:srgbClr val="245FD6"/>
                </a:solidFill>
                <a:latin typeface="Arial"/>
                <a:ea typeface="Arial"/>
                <a:cs typeface="Arial"/>
                <a:hlinkClick r:id="rId4"/>
              </a:rPr>
              <a:t> evidence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6C0630C-7B29-4D3B-9B58-8F876B98838F}"/>
              </a:ext>
            </a:extLst>
          </p:cNvPr>
          <p:cNvSpPr>
            <a:spLocks noGrp="1"/>
          </p:cNvSpPr>
          <p:nvPr/>
        </p:nvSpPr>
        <p:spPr>
          <a:xfrm>
            <a:off x="933450" y="5753100"/>
            <a:ext cx="10058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920"/>
          </a:bodyPr>
          <a:lstStyle/>
          <a:p>
            <a:pPr algn="ctr">
              <a:lnSpc>
                <a:spcPct val="100000"/>
              </a:lnSpc>
              <a:buNone/>
              <a:defRPr sz="202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202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The c</a:t>
            </a:r>
            <a:r>
              <a:rPr sz="202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ustom image</a:t>
            </a:r>
            <a:r>
              <a:rPr lang="en-US" sz="202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s</a:t>
            </a:r>
            <a:r>
              <a:rPr sz="202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 enforced the intended new-data PRB cap.</a:t>
            </a:r>
          </a:p>
        </p:txBody>
      </p:sp>
    </p:spTree>
    <p:extLst>
      <p:ext uri="{BB962C8B-B14F-4D97-AF65-F5344CB8AC3E}">
        <p14:creationId xmlns:p14="http://schemas.microsoft.com/office/powerpoint/2010/main" val="697127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8F8F80A-D8FA-40A4-82BB-DFF564FD7B17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5BE9016D-C8DB-449F-AD87-F103936F7EEA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1D0E2F-4F98-47EA-BB7A-5A073270FB6B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65A744-DCC3-4628-AA50-72A7A60E1CC9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5">
            <a:extLst>
              <a:ext uri="{FF2B5EF4-FFF2-40B4-BE49-F238E27FC236}">
                <a16:creationId xmlns:a16="http://schemas.microsoft.com/office/drawing/2014/main" id="{5B922F24-9233-46D7-8125-33C89001164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5">
            <a:extLst>
              <a:ext uri="{FF2B5EF4-FFF2-40B4-BE49-F238E27FC236}">
                <a16:creationId xmlns:a16="http://schemas.microsoft.com/office/drawing/2014/main" id="{D7F25DE1-D610-408A-AF09-3F6A55E28422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8" name="title-5">
            <a:extLst>
              <a:ext uri="{FF2B5EF4-FFF2-40B4-BE49-F238E27FC236}">
                <a16:creationId xmlns:a16="http://schemas.microsoft.com/office/drawing/2014/main" id="{7DE54DFD-0D7F-41B7-9794-C8429AE1E311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870"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(PRB Cap) </a:t>
            </a: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Throughput</a:t>
            </a: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8x </a:t>
            </a: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&amp; </a:t>
            </a: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power </a:t>
            </a: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+ ~</a:t>
            </a: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1 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CB8B62-BAF5-48E7-9A75-AD37AE554E3D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0471C4-F57A-47B9-9246-88E81B44367B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graphicFrame>
        <p:nvGraphicFramePr>
          <p:cNvPr id="36" name="Chart"/>
          <p:cNvGraphicFramePr/>
          <p:nvPr>
            <p:extLst>
              <p:ext uri="{D42A27DB-BD31-4B8C-83A1-F6EECF244321}">
                <p14:modId xmlns:p14="http://schemas.microsoft.com/office/powerpoint/2010/main" val="2789036688"/>
              </p:ext>
            </p:extLst>
          </p:nvPr>
        </p:nvGraphicFramePr>
        <p:xfrm>
          <a:off x="685800" y="1619250"/>
          <a:ext cx="6572250" cy="3714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2D2A19-DA63-4281-8D0B-0B95D7250CDB}"/>
              </a:ext>
            </a:extLst>
          </p:cNvPr>
          <p:cNvSpPr>
            <a:spLocks noGrp="1"/>
          </p:cNvSpPr>
          <p:nvPr/>
        </p:nvSpPr>
        <p:spPr>
          <a:xfrm>
            <a:off x="7639050" y="1600200"/>
            <a:ext cx="3695700" cy="1009650"/>
          </a:xfrm>
          <a:prstGeom prst="roundRect">
            <a:avLst>
              <a:gd name="adj" fmla="val 7547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FC46E6-8660-46C8-A2C0-EC25C31E267C}"/>
              </a:ext>
            </a:extLst>
          </p:cNvPr>
          <p:cNvSpPr>
            <a:spLocks noGrp="1"/>
          </p:cNvSpPr>
          <p:nvPr/>
        </p:nvSpPr>
        <p:spPr>
          <a:xfrm>
            <a:off x="7810500" y="1771650"/>
            <a:ext cx="66675" cy="6667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4" name="prb-throughput-title">
            <a:extLst>
              <a:ext uri="{FF2B5EF4-FFF2-40B4-BE49-F238E27FC236}">
                <a16:creationId xmlns:a16="http://schemas.microsoft.com/office/drawing/2014/main" id="{72B3F2C6-E4A9-4DC7-AF6F-863A14DC6B26}"/>
              </a:ext>
            </a:extLst>
          </p:cNvPr>
          <p:cNvSpPr>
            <a:spLocks noGrp="1"/>
          </p:cNvSpPr>
          <p:nvPr/>
        </p:nvSpPr>
        <p:spPr>
          <a:xfrm>
            <a:off x="8039100" y="17145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Throughput</a:t>
            </a:r>
          </a:p>
        </p:txBody>
      </p:sp>
      <p:sp>
        <p:nvSpPr>
          <p:cNvPr id="15" name="prb-throughput-body">
            <a:extLst>
              <a:ext uri="{FF2B5EF4-FFF2-40B4-BE49-F238E27FC236}">
                <a16:creationId xmlns:a16="http://schemas.microsoft.com/office/drawing/2014/main" id="{6FCFE3FD-F85F-4002-8F92-CB5F51D07100}"/>
              </a:ext>
            </a:extLst>
          </p:cNvPr>
          <p:cNvSpPr>
            <a:spLocks noGrp="1"/>
          </p:cNvSpPr>
          <p:nvPr/>
        </p:nvSpPr>
        <p:spPr>
          <a:xfrm>
            <a:off x="8039100" y="20574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95.6 -&gt; 760.7 Mbps (~8x)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64FA35-0205-405F-BF99-E82FFCA8779C}"/>
              </a:ext>
            </a:extLst>
          </p:cNvPr>
          <p:cNvSpPr>
            <a:spLocks noGrp="1"/>
          </p:cNvSpPr>
          <p:nvPr/>
        </p:nvSpPr>
        <p:spPr>
          <a:xfrm>
            <a:off x="7639050" y="2781300"/>
            <a:ext cx="3695700" cy="1009650"/>
          </a:xfrm>
          <a:prstGeom prst="roundRect">
            <a:avLst>
              <a:gd name="adj" fmla="val 7547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D13834-3943-467A-B751-A75515AFC979}"/>
              </a:ext>
            </a:extLst>
          </p:cNvPr>
          <p:cNvSpPr>
            <a:spLocks noGrp="1"/>
          </p:cNvSpPr>
          <p:nvPr/>
        </p:nvSpPr>
        <p:spPr>
          <a:xfrm>
            <a:off x="7810500" y="2952750"/>
            <a:ext cx="66675" cy="66675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</a:ln>
        </p:spPr>
      </p:sp>
      <p:sp>
        <p:nvSpPr>
          <p:cNvPr id="18" name="prb-power-title">
            <a:extLst>
              <a:ext uri="{FF2B5EF4-FFF2-40B4-BE49-F238E27FC236}">
                <a16:creationId xmlns:a16="http://schemas.microsoft.com/office/drawing/2014/main" id="{949185CB-7FA8-43BD-B462-7BE7350F5D1A}"/>
              </a:ext>
            </a:extLst>
          </p:cNvPr>
          <p:cNvSpPr>
            <a:spLocks noGrp="1"/>
          </p:cNvSpPr>
          <p:nvPr/>
        </p:nvSpPr>
        <p:spPr>
          <a:xfrm>
            <a:off x="8039100" y="28956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Mean O-RU power</a:t>
            </a:r>
          </a:p>
        </p:txBody>
      </p:sp>
      <p:sp>
        <p:nvSpPr>
          <p:cNvPr id="19" name="prb-power-body">
            <a:extLst>
              <a:ext uri="{FF2B5EF4-FFF2-40B4-BE49-F238E27FC236}">
                <a16:creationId xmlns:a16="http://schemas.microsoft.com/office/drawing/2014/main" id="{017C20DF-BB79-4C72-B40A-A2349EF538F5}"/>
              </a:ext>
            </a:extLst>
          </p:cNvPr>
          <p:cNvSpPr>
            <a:spLocks noGrp="1"/>
          </p:cNvSpPr>
          <p:nvPr/>
        </p:nvSpPr>
        <p:spPr>
          <a:xfrm>
            <a:off x="8039100" y="3238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40.95 -&gt; 41.99 W (+1.04 W)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01CC1D-AF3F-48EA-8CD5-386AEBBBD433}"/>
              </a:ext>
            </a:extLst>
          </p:cNvPr>
          <p:cNvSpPr>
            <a:spLocks noGrp="1"/>
          </p:cNvSpPr>
          <p:nvPr/>
        </p:nvSpPr>
        <p:spPr>
          <a:xfrm>
            <a:off x="7639050" y="3962400"/>
            <a:ext cx="3695700" cy="1009650"/>
          </a:xfrm>
          <a:prstGeom prst="roundRect">
            <a:avLst>
              <a:gd name="adj" fmla="val 7547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ECECC9-5EB9-4295-B7B7-93C7B15E6A0F}"/>
              </a:ext>
            </a:extLst>
          </p:cNvPr>
          <p:cNvSpPr>
            <a:spLocks noGrp="1"/>
          </p:cNvSpPr>
          <p:nvPr/>
        </p:nvSpPr>
        <p:spPr>
          <a:xfrm>
            <a:off x="7810500" y="4133850"/>
            <a:ext cx="66675" cy="666750"/>
          </a:xfrm>
          <a:prstGeom prst="rect">
            <a:avLst/>
          </a:prstGeom>
          <a:solidFill>
            <a:schemeClr val="accent1"/>
          </a:solidFill>
          <a:ln w="0">
            <a:noFill/>
            <a:prstDash val="solid"/>
          </a:ln>
        </p:spPr>
      </p:sp>
      <p:sp>
        <p:nvSpPr>
          <p:cNvPr id="22" name="prb-energy-title">
            <a:extLst>
              <a:ext uri="{FF2B5EF4-FFF2-40B4-BE49-F238E27FC236}">
                <a16:creationId xmlns:a16="http://schemas.microsoft.com/office/drawing/2014/main" id="{42F6AA31-AFF1-4429-A250-F0EB76EEEA80}"/>
              </a:ext>
            </a:extLst>
          </p:cNvPr>
          <p:cNvSpPr>
            <a:spLocks noGrp="1"/>
          </p:cNvSpPr>
          <p:nvPr/>
        </p:nvSpPr>
        <p:spPr>
          <a:xfrm>
            <a:off x="8039100" y="4076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Energy / delivered bit</a:t>
            </a:r>
          </a:p>
        </p:txBody>
      </p:sp>
      <p:sp>
        <p:nvSpPr>
          <p:cNvPr id="23" name="prb-energy-body">
            <a:extLst>
              <a:ext uri="{FF2B5EF4-FFF2-40B4-BE49-F238E27FC236}">
                <a16:creationId xmlns:a16="http://schemas.microsoft.com/office/drawing/2014/main" id="{C04CFEB8-A988-4228-A99B-95F8467A0DD8}"/>
              </a:ext>
            </a:extLst>
          </p:cNvPr>
          <p:cNvSpPr>
            <a:spLocks noGrp="1"/>
          </p:cNvSpPr>
          <p:nvPr/>
        </p:nvSpPr>
        <p:spPr>
          <a:xfrm>
            <a:off x="803910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428.36 -&gt; 55.20 nJ/bit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4AABC19-B156-4B6B-A6A3-87D14B1947CC}"/>
              </a:ext>
            </a:extLst>
          </p:cNvPr>
          <p:cNvSpPr>
            <a:spLocks noGrp="1"/>
          </p:cNvSpPr>
          <p:nvPr/>
        </p:nvSpPr>
        <p:spPr>
          <a:xfrm>
            <a:off x="895350" y="5638800"/>
            <a:ext cx="10287000" cy="590550"/>
          </a:xfrm>
          <a:prstGeom prst="roundRect">
            <a:avLst>
              <a:gd name="adj" fmla="val 12903"/>
            </a:avLst>
          </a:prstGeom>
          <a:solidFill>
            <a:srgbClr val="FFF4DD"/>
          </a:solidFill>
          <a:ln w="11430">
            <a:solidFill>
              <a:srgbClr val="F5C66D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5C3DF11-1C54-4FD7-B550-6D92D991F390}"/>
              </a:ext>
            </a:extLst>
          </p:cNvPr>
          <p:cNvSpPr>
            <a:spLocks noGrp="1"/>
          </p:cNvSpPr>
          <p:nvPr/>
        </p:nvSpPr>
        <p:spPr>
          <a:xfrm>
            <a:off x="1104900" y="5715000"/>
            <a:ext cx="9867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710"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7C4B00"/>
                </a:solidFill>
                <a:latin typeface="Arial"/>
                <a:ea typeface="Arial"/>
                <a:cs typeface="Arial"/>
              </a:defRPr>
            </a:pPr>
            <a:r>
              <a:rPr lang="en-US" sz="1725" b="1" i="0" dirty="0">
                <a:solidFill>
                  <a:srgbClr val="7C4B00"/>
                </a:solidFill>
                <a:latin typeface="Arial"/>
                <a:ea typeface="Arial"/>
                <a:cs typeface="Arial"/>
              </a:rPr>
              <a:t>Note: </a:t>
            </a:r>
            <a:r>
              <a:rPr lang="en-US" sz="1725" b="1" dirty="0">
                <a:solidFill>
                  <a:srgbClr val="7C4B00"/>
                </a:solidFill>
                <a:latin typeface="Arial"/>
                <a:ea typeface="Arial"/>
                <a:cs typeface="Arial"/>
              </a:rPr>
              <a:t>S</a:t>
            </a:r>
            <a:r>
              <a:rPr sz="1725" b="1" i="0" dirty="0">
                <a:solidFill>
                  <a:srgbClr val="7C4B00"/>
                </a:solidFill>
                <a:latin typeface="Arial"/>
                <a:ea typeface="Arial"/>
                <a:cs typeface="Arial"/>
              </a:rPr>
              <a:t>equential single runs from </a:t>
            </a:r>
            <a:r>
              <a:rPr lang="en-US" sz="1725" b="1" i="0" dirty="0">
                <a:solidFill>
                  <a:srgbClr val="7C4B00"/>
                </a:solidFill>
                <a:latin typeface="Arial"/>
                <a:ea typeface="Arial"/>
                <a:cs typeface="Arial"/>
              </a:rPr>
              <a:t>the same image base with modified cap parameters.</a:t>
            </a:r>
            <a:endParaRPr sz="1725" b="1" i="0" dirty="0">
              <a:solidFill>
                <a:srgbClr val="7C4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5E4012FD-6000-4A5A-894F-381521B154B5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06776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87F1A9C-C608-4946-BAD1-F1AF9ADB7BC2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EEF9865E-0053-4837-B300-9708CABEC0E9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9EBB6-1F53-4C39-8AB9-75547C5D53FA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4D0C5-3138-4D3D-9FA7-BEADC30E6D58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6">
            <a:extLst>
              <a:ext uri="{FF2B5EF4-FFF2-40B4-BE49-F238E27FC236}">
                <a16:creationId xmlns:a16="http://schemas.microsoft.com/office/drawing/2014/main" id="{BD229288-2AD4-42EF-A74B-623BD44C946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6">
            <a:extLst>
              <a:ext uri="{FF2B5EF4-FFF2-40B4-BE49-F238E27FC236}">
                <a16:creationId xmlns:a16="http://schemas.microsoft.com/office/drawing/2014/main" id="{3AC7B840-8DEB-4234-B9A8-41CE77D1E746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8" name="title-6">
            <a:extLst>
              <a:ext uri="{FF2B5EF4-FFF2-40B4-BE49-F238E27FC236}">
                <a16:creationId xmlns:a16="http://schemas.microsoft.com/office/drawing/2014/main" id="{0533B5CC-BDE9-4C4C-97AD-B99886146C9F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3968"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(Bandwidth) Power + 1.42 W &amp; Throughput 5x</a:t>
            </a:r>
            <a:endParaRPr sz="360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B5243A-00E3-4580-AD10-BD60B9AE6B6E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1E23C-F5A0-4B5E-B32A-D5BB3C5F4C9F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1776B2-B788-45D1-9EA4-BB9338FF608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8134350" cy="4591050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2FC9B0-3103-43C3-8BE5-3A705CBF7CD4}"/>
              </a:ext>
            </a:extLst>
          </p:cNvPr>
          <p:cNvSpPr>
            <a:spLocks noGrp="1"/>
          </p:cNvSpPr>
          <p:nvPr/>
        </p:nvSpPr>
        <p:spPr>
          <a:xfrm>
            <a:off x="9086850" y="1466850"/>
            <a:ext cx="2286000" cy="323850"/>
          </a:xfrm>
          <a:prstGeom prst="roundRect">
            <a:avLst>
              <a:gd name="adj" fmla="val 23529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4DF0E1-1584-48FF-89E3-DCD53BA22DC9}"/>
              </a:ext>
            </a:extLst>
          </p:cNvPr>
          <p:cNvSpPr>
            <a:spLocks noGrp="1"/>
          </p:cNvSpPr>
          <p:nvPr/>
        </p:nvSpPr>
        <p:spPr>
          <a:xfrm>
            <a:off x="9086850" y="1466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Findings</a:t>
            </a:r>
            <a:endParaRPr sz="13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F7ABAD-29B1-4397-A257-883299809D44}"/>
              </a:ext>
            </a:extLst>
          </p:cNvPr>
          <p:cNvSpPr>
            <a:spLocks noGrp="1"/>
          </p:cNvSpPr>
          <p:nvPr/>
        </p:nvSpPr>
        <p:spPr>
          <a:xfrm rot="2700000">
            <a:off x="8915400" y="229552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6" name="baseline-observation-1">
            <a:extLst>
              <a:ext uri="{FF2B5EF4-FFF2-40B4-BE49-F238E27FC236}">
                <a16:creationId xmlns:a16="http://schemas.microsoft.com/office/drawing/2014/main" id="{3039D50B-181B-46CC-84D9-95C932EB264B}"/>
              </a:ext>
            </a:extLst>
          </p:cNvPr>
          <p:cNvSpPr>
            <a:spLocks noGrp="1"/>
          </p:cNvSpPr>
          <p:nvPr/>
        </p:nvSpPr>
        <p:spPr>
          <a:xfrm>
            <a:off x="9182100" y="2019300"/>
            <a:ext cx="2457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56" lnSpcReduction="10000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Delivered throughput: 100 </a:t>
            </a:r>
            <a:r>
              <a:rPr lang="en-US" sz="1725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to</a:t>
            </a: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495 Mbps across complete runs.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F5D620-F51E-467F-BEBD-2C9AADE0084E}"/>
              </a:ext>
            </a:extLst>
          </p:cNvPr>
          <p:cNvSpPr>
            <a:spLocks noGrp="1"/>
          </p:cNvSpPr>
          <p:nvPr/>
        </p:nvSpPr>
        <p:spPr>
          <a:xfrm rot="2700000">
            <a:off x="8915400" y="309562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8" name="baseline-observation-2">
            <a:extLst>
              <a:ext uri="{FF2B5EF4-FFF2-40B4-BE49-F238E27FC236}">
                <a16:creationId xmlns:a16="http://schemas.microsoft.com/office/drawing/2014/main" id="{D1300227-07BA-47D3-8CFF-269C0107CBD8}"/>
              </a:ext>
            </a:extLst>
          </p:cNvPr>
          <p:cNvSpPr>
            <a:spLocks noGrp="1"/>
          </p:cNvSpPr>
          <p:nvPr/>
        </p:nvSpPr>
        <p:spPr>
          <a:xfrm>
            <a:off x="9182100" y="2819400"/>
            <a:ext cx="2457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289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Mean active power: 40.59 </a:t>
            </a: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to</a:t>
            </a: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42.02 W (+1.42 W).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8DDB7E-7F9E-4ECC-B296-67490F2921A4}"/>
              </a:ext>
            </a:extLst>
          </p:cNvPr>
          <p:cNvSpPr>
            <a:spLocks noGrp="1"/>
          </p:cNvSpPr>
          <p:nvPr/>
        </p:nvSpPr>
        <p:spPr>
          <a:xfrm rot="2700000">
            <a:off x="8915400" y="389572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0" name="baseline-observation-3">
            <a:extLst>
              <a:ext uri="{FF2B5EF4-FFF2-40B4-BE49-F238E27FC236}">
                <a16:creationId xmlns:a16="http://schemas.microsoft.com/office/drawing/2014/main" id="{BF936685-DD18-40EB-B199-1C8D407787BE}"/>
              </a:ext>
            </a:extLst>
          </p:cNvPr>
          <p:cNvSpPr>
            <a:spLocks noGrp="1"/>
          </p:cNvSpPr>
          <p:nvPr/>
        </p:nvSpPr>
        <p:spPr>
          <a:xfrm>
            <a:off x="9182100" y="3619500"/>
            <a:ext cx="2457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56" lnSpcReduction="10000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The 300 and 600 Mbps attempts were incomplete diagnostics.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A681AE-38CF-4F72-97F7-87965164B111}"/>
              </a:ext>
            </a:extLst>
          </p:cNvPr>
          <p:cNvSpPr>
            <a:spLocks noGrp="1"/>
          </p:cNvSpPr>
          <p:nvPr/>
        </p:nvSpPr>
        <p:spPr>
          <a:xfrm>
            <a:off x="9067800" y="4648200"/>
            <a:ext cx="2419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endParaRPr sz="165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B7073F-0CFC-4D98-B8DA-B86939B42CFA}"/>
              </a:ext>
            </a:extLst>
          </p:cNvPr>
          <p:cNvSpPr>
            <a:spLocks noGrp="1"/>
          </p:cNvSpPr>
          <p:nvPr/>
        </p:nvSpPr>
        <p:spPr>
          <a:xfrm>
            <a:off x="9067800" y="523875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endParaRPr sz="1350" b="0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A26D19-D7A3-44AD-9195-07BCE88FA3EE}"/>
              </a:ext>
            </a:extLst>
          </p:cNvPr>
          <p:cNvSpPr>
            <a:spLocks noGrp="1"/>
          </p:cNvSpPr>
          <p:nvPr/>
        </p:nvSpPr>
        <p:spPr>
          <a:xfrm>
            <a:off x="1104900" y="6134100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8A510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8A5100"/>
                </a:solidFill>
                <a:latin typeface="Arial"/>
                <a:ea typeface="Arial"/>
                <a:cs typeface="Arial"/>
              </a:rPr>
              <a:t>Teal = complete baseline  •  Orange = incomplete diagnostic  •  Regression uses complete runs only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93DDC765-D80C-42AD-878E-EAD5A786ADD1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graphicFrame>
        <p:nvGraphicFramePr>
          <p:cNvPr id="50" name="Chart"/>
          <p:cNvGraphicFramePr/>
          <p:nvPr/>
        </p:nvGraphicFramePr>
        <p:xfrm>
          <a:off x="666750" y="1562100"/>
          <a:ext cx="7848600" cy="4495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78318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87F1A9C-C608-4946-BAD1-F1AF9ADB7BC2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EEF9865E-0053-4837-B300-9708CABEC0E9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9EBB6-1F53-4C39-8AB9-75547C5D53FA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BB4D0C5-3138-4D3D-9FA7-BEADC30E6D58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6">
            <a:extLst>
              <a:ext uri="{FF2B5EF4-FFF2-40B4-BE49-F238E27FC236}">
                <a16:creationId xmlns:a16="http://schemas.microsoft.com/office/drawing/2014/main" id="{BD229288-2AD4-42EF-A74B-623BD44C946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6">
            <a:extLst>
              <a:ext uri="{FF2B5EF4-FFF2-40B4-BE49-F238E27FC236}">
                <a16:creationId xmlns:a16="http://schemas.microsoft.com/office/drawing/2014/main" id="{3AC7B840-8DEB-4234-B9A8-41CE77D1E746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7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6">
            <a:extLst>
              <a:ext uri="{FF2B5EF4-FFF2-40B4-BE49-F238E27FC236}">
                <a16:creationId xmlns:a16="http://schemas.microsoft.com/office/drawing/2014/main" id="{0533B5CC-BDE9-4C4C-97AD-B99886146C9F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Power Graphs</a:t>
            </a:r>
            <a:endParaRPr sz="360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B5243A-00E3-4580-AD10-BD60B9AE6B6E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1E23C-F5A0-4B5E-B32A-D5BB3C5F4C9F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1776B2-B788-45D1-9EA4-BB9338FF6082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8134350" cy="4591050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4288">
            <a:solidFill>
              <a:srgbClr val="A7BEFF"/>
            </a:solidFill>
            <a:prstDash val="solid"/>
          </a:ln>
        </p:spPr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5833" y="1504950"/>
            <a:ext cx="6411383" cy="4438650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2FC9B0-3103-43C3-8BE5-3A705CBF7CD4}"/>
              </a:ext>
            </a:extLst>
          </p:cNvPr>
          <p:cNvSpPr>
            <a:spLocks noGrp="1"/>
          </p:cNvSpPr>
          <p:nvPr/>
        </p:nvSpPr>
        <p:spPr>
          <a:xfrm>
            <a:off x="9086850" y="1466850"/>
            <a:ext cx="2286000" cy="323850"/>
          </a:xfrm>
          <a:prstGeom prst="roundRect">
            <a:avLst>
              <a:gd name="adj" fmla="val 23529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4DF0E1-1584-48FF-89E3-DCD53BA22DC9}"/>
              </a:ext>
            </a:extLst>
          </p:cNvPr>
          <p:cNvSpPr>
            <a:spLocks noGrp="1"/>
          </p:cNvSpPr>
          <p:nvPr/>
        </p:nvSpPr>
        <p:spPr>
          <a:xfrm>
            <a:off x="9086850" y="14668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THREE OBSERVATIONS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4F7ABAD-29B1-4397-A257-883299809D44}"/>
              </a:ext>
            </a:extLst>
          </p:cNvPr>
          <p:cNvSpPr>
            <a:spLocks noGrp="1"/>
          </p:cNvSpPr>
          <p:nvPr/>
        </p:nvSpPr>
        <p:spPr>
          <a:xfrm rot="2700000">
            <a:off x="8915400" y="229552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6" name="baseline-observation-1">
            <a:extLst>
              <a:ext uri="{FF2B5EF4-FFF2-40B4-BE49-F238E27FC236}">
                <a16:creationId xmlns:a16="http://schemas.microsoft.com/office/drawing/2014/main" id="{3039D50B-181B-46CC-84D9-95C932EB264B}"/>
              </a:ext>
            </a:extLst>
          </p:cNvPr>
          <p:cNvSpPr>
            <a:spLocks noGrp="1"/>
          </p:cNvSpPr>
          <p:nvPr/>
        </p:nvSpPr>
        <p:spPr>
          <a:xfrm>
            <a:off x="9182100" y="2019300"/>
            <a:ext cx="2457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56" lnSpcReduction="10000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Delivered throughput tracks offered load through about 400 Mbps.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F5D620-F51E-467F-BEBD-2C9AADE0084E}"/>
              </a:ext>
            </a:extLst>
          </p:cNvPr>
          <p:cNvSpPr>
            <a:spLocks noGrp="1"/>
          </p:cNvSpPr>
          <p:nvPr/>
        </p:nvSpPr>
        <p:spPr>
          <a:xfrm rot="2700000">
            <a:off x="8915400" y="309562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8" name="baseline-observation-2">
            <a:extLst>
              <a:ext uri="{FF2B5EF4-FFF2-40B4-BE49-F238E27FC236}">
                <a16:creationId xmlns:a16="http://schemas.microsoft.com/office/drawing/2014/main" id="{D1300227-07BA-47D3-8CFF-269C0107CBD8}"/>
              </a:ext>
            </a:extLst>
          </p:cNvPr>
          <p:cNvSpPr>
            <a:spLocks noGrp="1"/>
          </p:cNvSpPr>
          <p:nvPr/>
        </p:nvSpPr>
        <p:spPr>
          <a:xfrm>
            <a:off x="9182100" y="2819400"/>
            <a:ext cx="2457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Saturation appears around 500-600 Mbps.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8DDB7E-7F9E-4ECC-B296-67490F2921A4}"/>
              </a:ext>
            </a:extLst>
          </p:cNvPr>
          <p:cNvSpPr>
            <a:spLocks noGrp="1"/>
          </p:cNvSpPr>
          <p:nvPr/>
        </p:nvSpPr>
        <p:spPr>
          <a:xfrm rot="2700000">
            <a:off x="8915400" y="389572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0" name="baseline-observation-3">
            <a:extLst>
              <a:ext uri="{FF2B5EF4-FFF2-40B4-BE49-F238E27FC236}">
                <a16:creationId xmlns:a16="http://schemas.microsoft.com/office/drawing/2014/main" id="{BF936685-DD18-40EB-B199-1C8D407787BE}"/>
              </a:ext>
            </a:extLst>
          </p:cNvPr>
          <p:cNvSpPr>
            <a:spLocks noGrp="1"/>
          </p:cNvSpPr>
          <p:nvPr/>
        </p:nvSpPr>
        <p:spPr>
          <a:xfrm>
            <a:off x="9182100" y="3619500"/>
            <a:ext cx="24574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456" lnSpcReduction="10000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Mean active power rises only from about 40.6 to 42.0 W.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4238EF9-0AFF-4345-8EE3-A9303C78F7A6}"/>
              </a:ext>
            </a:extLst>
          </p:cNvPr>
          <p:cNvSpPr>
            <a:spLocks noGrp="1"/>
          </p:cNvSpPr>
          <p:nvPr/>
        </p:nvSpPr>
        <p:spPr>
          <a:xfrm>
            <a:off x="8915400" y="4514850"/>
            <a:ext cx="2724150" cy="1238250"/>
          </a:xfrm>
          <a:prstGeom prst="roundRect">
            <a:avLst>
              <a:gd name="adj" fmla="val 6154"/>
            </a:avLst>
          </a:prstGeom>
          <a:solidFill>
            <a:srgbClr val="EEF3FF"/>
          </a:solidFill>
          <a:ln w="11430">
            <a:solidFill>
              <a:srgbClr val="6594F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A681AE-38CF-4F72-97F7-87965164B111}"/>
              </a:ext>
            </a:extLst>
          </p:cNvPr>
          <p:cNvSpPr>
            <a:spLocks noGrp="1"/>
          </p:cNvSpPr>
          <p:nvPr/>
        </p:nvSpPr>
        <p:spPr>
          <a:xfrm>
            <a:off x="9067800" y="4648200"/>
            <a:ext cx="2419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P(W) = 40.2752 +</a:t>
            </a:r>
          </a:p>
          <a:p>
            <a:pPr algn="ctr">
              <a:lnSpc>
                <a:spcPct val="100000"/>
              </a:lnSpc>
              <a:buNone/>
              <a:defRPr sz="16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65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0.0032028 x throughput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9B7073F-0CFC-4D98-B8DA-B86939B42CFA}"/>
              </a:ext>
            </a:extLst>
          </p:cNvPr>
          <p:cNvSpPr>
            <a:spLocks noGrp="1"/>
          </p:cNvSpPr>
          <p:nvPr/>
        </p:nvSpPr>
        <p:spPr>
          <a:xfrm>
            <a:off x="9067800" y="5238750"/>
            <a:ext cx="24193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222"/>
          </a:bodyPr>
          <a:lstStyle/>
          <a:p>
            <a:pPr algn="ctr">
              <a:lnSpc>
                <a:spcPct val="100000"/>
              </a:lnSpc>
              <a:buNone/>
              <a:defRPr sz="1350" b="0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350" b="0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R^2 = 0.9246  |  n = 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A26D19-D7A3-44AD-9195-07BCE88FA3EE}"/>
              </a:ext>
            </a:extLst>
          </p:cNvPr>
          <p:cNvSpPr>
            <a:spLocks noGrp="1"/>
          </p:cNvSpPr>
          <p:nvPr/>
        </p:nvSpPr>
        <p:spPr>
          <a:xfrm>
            <a:off x="1104900" y="6134100"/>
            <a:ext cx="981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8A5100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8A5100"/>
                </a:solidFill>
                <a:latin typeface="Arial"/>
                <a:ea typeface="Arial"/>
                <a:cs typeface="Arial"/>
              </a:rPr>
              <a:t>Orange points </a:t>
            </a:r>
            <a:r>
              <a:rPr lang="en-US" sz="1575" b="1" i="0" dirty="0">
                <a:solidFill>
                  <a:srgbClr val="8A5100"/>
                </a:solidFill>
                <a:latin typeface="Arial"/>
                <a:ea typeface="Arial"/>
                <a:cs typeface="Arial"/>
              </a:rPr>
              <a:t>are </a:t>
            </a:r>
            <a:r>
              <a:rPr sz="1575" b="1" i="0" dirty="0">
                <a:solidFill>
                  <a:srgbClr val="8A5100"/>
                </a:solidFill>
                <a:latin typeface="Arial"/>
                <a:ea typeface="Arial"/>
                <a:cs typeface="Arial"/>
              </a:rPr>
              <a:t>because 300 and 600 Mbps are incomplete diagnostics.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93DDC765-D80C-42AD-878E-EAD5A786ADD1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65553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D771A827-59DD-453A-91BB-7836A1213A2F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F6D469D5-375C-4DC5-B982-60B00F50F5B9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9EA5BE-A59B-4596-B0BF-94A4B86D1CC2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21579-FB76-4EF4-8227-4156B773FD39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7">
            <a:extLst>
              <a:ext uri="{FF2B5EF4-FFF2-40B4-BE49-F238E27FC236}">
                <a16:creationId xmlns:a16="http://schemas.microsoft.com/office/drawing/2014/main" id="{B5301416-80AD-4220-B21F-1FFBDBEBB7F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7">
            <a:extLst>
              <a:ext uri="{FF2B5EF4-FFF2-40B4-BE49-F238E27FC236}">
                <a16:creationId xmlns:a16="http://schemas.microsoft.com/office/drawing/2014/main" id="{95A6C660-7EF3-4512-B22D-2C41CC8A76B3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8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7">
            <a:extLst>
              <a:ext uri="{FF2B5EF4-FFF2-40B4-BE49-F238E27FC236}">
                <a16:creationId xmlns:a16="http://schemas.microsoft.com/office/drawing/2014/main" id="{D9E0F4D1-97D4-4790-A299-6C439F932659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778"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Found Issues and Possible Causes</a:t>
            </a:r>
            <a:endParaRPr sz="360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26F441-9DA9-4D56-AF33-E0F941FB9E93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B54FD7-77E2-4594-9FA9-A9D30AC823D0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B2453B-3E5F-4E67-9B6A-88BD4B8BAE55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095875" cy="4000500"/>
          </a:xfrm>
          <a:prstGeom prst="roundRect">
            <a:avLst>
              <a:gd name="adj" fmla="val 1905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74BFDC6-A33F-424E-BF80-2B96BE24F5FD}"/>
              </a:ext>
            </a:extLst>
          </p:cNvPr>
          <p:cNvSpPr>
            <a:spLocks noGrp="1"/>
          </p:cNvSpPr>
          <p:nvPr/>
        </p:nvSpPr>
        <p:spPr>
          <a:xfrm>
            <a:off x="6410325" y="1504950"/>
            <a:ext cx="5095875" cy="4000500"/>
          </a:xfrm>
          <a:prstGeom prst="roundRect">
            <a:avLst>
              <a:gd name="adj" fmla="val 1905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5C6ACFF-0C2F-4EA1-B9AF-894707EF9C28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1638300" cy="342900"/>
          </a:xfrm>
          <a:prstGeom prst="roundRect">
            <a:avLst>
              <a:gd name="adj" fmla="val 22222"/>
            </a:avLst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656172-97FC-4929-918D-E6DDD88D45B9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2BBCFC-28D7-4A7A-B048-65E2A22F542E}"/>
              </a:ext>
            </a:extLst>
          </p:cNvPr>
          <p:cNvSpPr>
            <a:spLocks noGrp="1"/>
          </p:cNvSpPr>
          <p:nvPr/>
        </p:nvSpPr>
        <p:spPr>
          <a:xfrm>
            <a:off x="6667500" y="1657350"/>
            <a:ext cx="1981200" cy="342900"/>
          </a:xfrm>
          <a:prstGeom prst="roundRect">
            <a:avLst>
              <a:gd name="adj" fmla="val 22222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2C2465-E762-43B9-AAC1-24C8CA6146A1}"/>
              </a:ext>
            </a:extLst>
          </p:cNvPr>
          <p:cNvSpPr>
            <a:spLocks noGrp="1"/>
          </p:cNvSpPr>
          <p:nvPr/>
        </p:nvSpPr>
        <p:spPr>
          <a:xfrm>
            <a:off x="6667500" y="165735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C7265E-C820-4604-88F0-8771FA617CD6}"/>
              </a:ext>
            </a:extLst>
          </p:cNvPr>
          <p:cNvSpPr>
            <a:spLocks noGrp="1"/>
          </p:cNvSpPr>
          <p:nvPr/>
        </p:nvSpPr>
        <p:spPr>
          <a:xfrm rot="2700000">
            <a:off x="971550" y="2464594"/>
            <a:ext cx="114300" cy="1143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18" name="observed-1">
            <a:extLst>
              <a:ext uri="{FF2B5EF4-FFF2-40B4-BE49-F238E27FC236}">
                <a16:creationId xmlns:a16="http://schemas.microsoft.com/office/drawing/2014/main" id="{C2EC8341-1223-4D5A-A1E9-519061ED5686}"/>
              </a:ext>
            </a:extLst>
          </p:cNvPr>
          <p:cNvSpPr>
            <a:spLocks noGrp="1"/>
          </p:cNvSpPr>
          <p:nvPr/>
        </p:nvSpPr>
        <p:spPr>
          <a:xfrm>
            <a:off x="1238250" y="2171700"/>
            <a:ext cx="42481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Automation sometimes stalled between offered-load steps.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C16D38-7C21-496D-BED4-C072E79252A5}"/>
              </a:ext>
            </a:extLst>
          </p:cNvPr>
          <p:cNvSpPr>
            <a:spLocks noGrp="1"/>
          </p:cNvSpPr>
          <p:nvPr/>
        </p:nvSpPr>
        <p:spPr>
          <a:xfrm rot="2700000">
            <a:off x="971550" y="3240881"/>
            <a:ext cx="114300" cy="1143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20" name="observed-2">
            <a:extLst>
              <a:ext uri="{FF2B5EF4-FFF2-40B4-BE49-F238E27FC236}">
                <a16:creationId xmlns:a16="http://schemas.microsoft.com/office/drawing/2014/main" id="{9A9DCBE2-2D17-4267-AEBE-577D3BC8C053}"/>
              </a:ext>
            </a:extLst>
          </p:cNvPr>
          <p:cNvSpPr>
            <a:spLocks noGrp="1"/>
          </p:cNvSpPr>
          <p:nvPr/>
        </p:nvSpPr>
        <p:spPr>
          <a:xfrm>
            <a:off x="1238250" y="2947988"/>
            <a:ext cx="42481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lnSpcReduction="10000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VNF logs reported SDU buffer full and RRC re-establishment: Other Failure.</a:t>
            </a: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(during 2 runs)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5FA982-DC6A-4EE8-9FFC-216FC40F863A}"/>
              </a:ext>
            </a:extLst>
          </p:cNvPr>
          <p:cNvSpPr>
            <a:spLocks noGrp="1"/>
          </p:cNvSpPr>
          <p:nvPr/>
        </p:nvSpPr>
        <p:spPr>
          <a:xfrm rot="2700000">
            <a:off x="971550" y="4017169"/>
            <a:ext cx="114300" cy="1143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22" name="observed-3">
            <a:extLst>
              <a:ext uri="{FF2B5EF4-FFF2-40B4-BE49-F238E27FC236}">
                <a16:creationId xmlns:a16="http://schemas.microsoft.com/office/drawing/2014/main" id="{7F7A3649-1704-4A6D-A350-DD315BB90F4D}"/>
              </a:ext>
            </a:extLst>
          </p:cNvPr>
          <p:cNvSpPr>
            <a:spLocks noGrp="1"/>
          </p:cNvSpPr>
          <p:nvPr/>
        </p:nvSpPr>
        <p:spPr>
          <a:xfrm>
            <a:off x="1238250" y="3724275"/>
            <a:ext cx="42481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The VNF / radio path stopped progressing in some higher-load attempts.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142A84-A5C6-494C-A608-B5CACB856B4E}"/>
              </a:ext>
            </a:extLst>
          </p:cNvPr>
          <p:cNvSpPr>
            <a:spLocks noGrp="1"/>
          </p:cNvSpPr>
          <p:nvPr/>
        </p:nvSpPr>
        <p:spPr>
          <a:xfrm rot="2700000">
            <a:off x="971550" y="4793456"/>
            <a:ext cx="114300" cy="1143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24" name="observed-4">
            <a:extLst>
              <a:ext uri="{FF2B5EF4-FFF2-40B4-BE49-F238E27FC236}">
                <a16:creationId xmlns:a16="http://schemas.microsoft.com/office/drawing/2014/main" id="{926EFC96-4762-4155-8EBC-34AB63866273}"/>
              </a:ext>
            </a:extLst>
          </p:cNvPr>
          <p:cNvSpPr>
            <a:spLocks noGrp="1"/>
          </p:cNvSpPr>
          <p:nvPr/>
        </p:nvSpPr>
        <p:spPr>
          <a:xfrm>
            <a:off x="1238250" y="4500563"/>
            <a:ext cx="42481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The 600 Mbps retry delivered 549.112 Mbps at 65.333% completion.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2A782F-D256-42DF-9378-FE2774435EB1}"/>
              </a:ext>
            </a:extLst>
          </p:cNvPr>
          <p:cNvSpPr>
            <a:spLocks noGrp="1"/>
          </p:cNvSpPr>
          <p:nvPr/>
        </p:nvSpPr>
        <p:spPr>
          <a:xfrm rot="2700000">
            <a:off x="6724650" y="2464594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6" name="interpretation-1">
            <a:extLst>
              <a:ext uri="{FF2B5EF4-FFF2-40B4-BE49-F238E27FC236}">
                <a16:creationId xmlns:a16="http://schemas.microsoft.com/office/drawing/2014/main" id="{7FF0C3BC-2644-45AE-B996-569BB5680375}"/>
              </a:ext>
            </a:extLst>
          </p:cNvPr>
          <p:cNvSpPr>
            <a:spLocks noGrp="1"/>
          </p:cNvSpPr>
          <p:nvPr/>
        </p:nvSpPr>
        <p:spPr>
          <a:xfrm>
            <a:off x="6991350" y="2171700"/>
            <a:ext cx="42100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Consistent with backpressure and</a:t>
            </a: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timing instability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54D4DC-346E-4274-A219-1E73EF7C6C3D}"/>
              </a:ext>
            </a:extLst>
          </p:cNvPr>
          <p:cNvSpPr>
            <a:spLocks noGrp="1"/>
          </p:cNvSpPr>
          <p:nvPr/>
        </p:nvSpPr>
        <p:spPr>
          <a:xfrm rot="2700000">
            <a:off x="6724650" y="3240881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8" name="interpretation-2">
            <a:extLst>
              <a:ext uri="{FF2B5EF4-FFF2-40B4-BE49-F238E27FC236}">
                <a16:creationId xmlns:a16="http://schemas.microsoft.com/office/drawing/2014/main" id="{5EC68171-5BE4-4777-9DB8-E98F66C1813D}"/>
              </a:ext>
            </a:extLst>
          </p:cNvPr>
          <p:cNvSpPr>
            <a:spLocks noGrp="1"/>
          </p:cNvSpPr>
          <p:nvPr/>
        </p:nvSpPr>
        <p:spPr>
          <a:xfrm>
            <a:off x="6991350" y="2947988"/>
            <a:ext cx="42100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Issues don’t come from one root cause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F5942C-7279-4613-9438-4F3B38191300}"/>
              </a:ext>
            </a:extLst>
          </p:cNvPr>
          <p:cNvSpPr>
            <a:spLocks noGrp="1"/>
          </p:cNvSpPr>
          <p:nvPr/>
        </p:nvSpPr>
        <p:spPr>
          <a:xfrm rot="2700000">
            <a:off x="6724650" y="4017169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30" name="interpretation-3">
            <a:extLst>
              <a:ext uri="{FF2B5EF4-FFF2-40B4-BE49-F238E27FC236}">
                <a16:creationId xmlns:a16="http://schemas.microsoft.com/office/drawing/2014/main" id="{45A1BF77-50AF-41AE-94DE-F1103DE6EB08}"/>
              </a:ext>
            </a:extLst>
          </p:cNvPr>
          <p:cNvSpPr>
            <a:spLocks noGrp="1"/>
          </p:cNvSpPr>
          <p:nvPr/>
        </p:nvSpPr>
        <p:spPr>
          <a:xfrm>
            <a:off x="6991350" y="3724275"/>
            <a:ext cx="42100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The failure cannot be attributed only to the custom scheduler.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15B571E-30AE-42E2-8D5F-6EDDBE01EF25}"/>
              </a:ext>
            </a:extLst>
          </p:cNvPr>
          <p:cNvSpPr>
            <a:spLocks noGrp="1"/>
          </p:cNvSpPr>
          <p:nvPr/>
        </p:nvSpPr>
        <p:spPr>
          <a:xfrm rot="2700000">
            <a:off x="6724650" y="4793456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32" name="interpretation-4">
            <a:extLst>
              <a:ext uri="{FF2B5EF4-FFF2-40B4-BE49-F238E27FC236}">
                <a16:creationId xmlns:a16="http://schemas.microsoft.com/office/drawing/2014/main" id="{51968DDB-02F1-485D-A76C-0C9E3F74B39C}"/>
              </a:ext>
            </a:extLst>
          </p:cNvPr>
          <p:cNvSpPr>
            <a:spLocks noGrp="1"/>
          </p:cNvSpPr>
          <p:nvPr/>
        </p:nvSpPr>
        <p:spPr>
          <a:xfrm>
            <a:off x="6991350" y="4500563"/>
            <a:ext cx="42100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The image used isn’t the cause of the issues (w28)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51180C9-3338-4C99-A9C0-C5B0DFC2F0CA}"/>
              </a:ext>
            </a:extLst>
          </p:cNvPr>
          <p:cNvSpPr>
            <a:spLocks noGrp="1"/>
          </p:cNvSpPr>
          <p:nvPr/>
        </p:nvSpPr>
        <p:spPr>
          <a:xfrm>
            <a:off x="1123950" y="5734050"/>
            <a:ext cx="9944100" cy="590550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1430">
            <a:solidFill>
              <a:srgbClr val="6594F4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F27589A-A649-4EED-B3E6-EB6567A40BB3}"/>
              </a:ext>
            </a:extLst>
          </p:cNvPr>
          <p:cNvSpPr>
            <a:spLocks noGrp="1"/>
          </p:cNvSpPr>
          <p:nvPr/>
        </p:nvSpPr>
        <p:spPr>
          <a:xfrm>
            <a:off x="1314450" y="5829300"/>
            <a:ext cx="956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540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7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VNF is 13 commits newer than OAI 2026.w28</a:t>
            </a:r>
            <a:r>
              <a:rPr lang="en-US" sz="157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 + </a:t>
            </a:r>
            <a:r>
              <a:rPr sz="157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UE repeatedly reported RI 2 (effective rank two)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380912A4-180C-41B8-9A0B-306C4F10DE21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2342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275C9-9A80-868F-E692-74FBB995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B4E6366-30C5-9971-754F-6CA982C4582F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598B4916-B73F-47B4-ED6E-E49C68EA6CD5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5BBC5B-0AAF-102B-B20D-6794D1D30FDD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540E6D7-BD63-7F00-F08F-B06E8A2207F5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7">
            <a:extLst>
              <a:ext uri="{FF2B5EF4-FFF2-40B4-BE49-F238E27FC236}">
                <a16:creationId xmlns:a16="http://schemas.microsoft.com/office/drawing/2014/main" id="{16C545D2-47EE-E482-2748-F1817BF32E6A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7">
            <a:extLst>
              <a:ext uri="{FF2B5EF4-FFF2-40B4-BE49-F238E27FC236}">
                <a16:creationId xmlns:a16="http://schemas.microsoft.com/office/drawing/2014/main" id="{4020DD8A-1CE1-5599-514D-3D4DDE7E90D9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0</a:t>
            </a:r>
            <a:r>
              <a:rPr lang="en-US" sz="1200" b="1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9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7">
            <a:extLst>
              <a:ext uri="{FF2B5EF4-FFF2-40B4-BE49-F238E27FC236}">
                <a16:creationId xmlns:a16="http://schemas.microsoft.com/office/drawing/2014/main" id="{8D38EB6B-E077-C10D-AE62-663523B580E2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5778"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Next Target: Scheduling Shape</a:t>
            </a:r>
            <a:endParaRPr sz="360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F0C2CE-B3EB-8B66-438A-91B1E7B7CC9F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DBFB1A-73BD-2FCD-D235-9DC724A8C7E4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FF4B6FC-C13F-9C7D-0338-238364085376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095875" cy="2424112"/>
          </a:xfrm>
          <a:prstGeom prst="roundRect">
            <a:avLst>
              <a:gd name="adj" fmla="val 1905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1C80B4E-35A6-1E52-230A-2C35E620881C}"/>
              </a:ext>
            </a:extLst>
          </p:cNvPr>
          <p:cNvSpPr>
            <a:spLocks noGrp="1"/>
          </p:cNvSpPr>
          <p:nvPr/>
        </p:nvSpPr>
        <p:spPr>
          <a:xfrm>
            <a:off x="6410325" y="1504950"/>
            <a:ext cx="5095875" cy="2432119"/>
          </a:xfrm>
          <a:prstGeom prst="roundRect">
            <a:avLst>
              <a:gd name="adj" fmla="val 1905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54BDA5D-E2AF-CA21-AA43-D65E14F1110E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1638300" cy="342900"/>
          </a:xfrm>
          <a:prstGeom prst="roundRect">
            <a:avLst>
              <a:gd name="adj" fmla="val 22222"/>
            </a:avLst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457C95-C027-39F7-1FEC-06E3BD82B946}"/>
              </a:ext>
            </a:extLst>
          </p:cNvPr>
          <p:cNvSpPr>
            <a:spLocks noGrp="1"/>
          </p:cNvSpPr>
          <p:nvPr/>
        </p:nvSpPr>
        <p:spPr>
          <a:xfrm>
            <a:off x="933450" y="1657350"/>
            <a:ext cx="1638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Narrow Spread</a:t>
            </a:r>
            <a:endParaRPr sz="13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2141C3-9E30-C82D-E6B3-9CB023CC53CF}"/>
              </a:ext>
            </a:extLst>
          </p:cNvPr>
          <p:cNvSpPr>
            <a:spLocks noGrp="1"/>
          </p:cNvSpPr>
          <p:nvPr/>
        </p:nvSpPr>
        <p:spPr>
          <a:xfrm>
            <a:off x="6667500" y="1657350"/>
            <a:ext cx="1981200" cy="342900"/>
          </a:xfrm>
          <a:prstGeom prst="roundRect">
            <a:avLst>
              <a:gd name="adj" fmla="val 22222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FC7228-B99A-C040-EC59-745398FD0841}"/>
              </a:ext>
            </a:extLst>
          </p:cNvPr>
          <p:cNvSpPr>
            <a:spLocks noGrp="1"/>
          </p:cNvSpPr>
          <p:nvPr/>
        </p:nvSpPr>
        <p:spPr>
          <a:xfrm>
            <a:off x="6667500" y="1657350"/>
            <a:ext cx="1981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Wide Burst</a:t>
            </a:r>
            <a:endParaRPr sz="13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70DC6C-AF8A-EA85-F17A-B7743051BF95}"/>
              </a:ext>
            </a:extLst>
          </p:cNvPr>
          <p:cNvSpPr>
            <a:spLocks noGrp="1"/>
          </p:cNvSpPr>
          <p:nvPr/>
        </p:nvSpPr>
        <p:spPr>
          <a:xfrm rot="2700000">
            <a:off x="971550" y="2464594"/>
            <a:ext cx="114300" cy="1143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18" name="observed-1">
            <a:extLst>
              <a:ext uri="{FF2B5EF4-FFF2-40B4-BE49-F238E27FC236}">
                <a16:creationId xmlns:a16="http://schemas.microsoft.com/office/drawing/2014/main" id="{8719E0B8-58DA-AD85-76DE-6CB682A265D6}"/>
              </a:ext>
            </a:extLst>
          </p:cNvPr>
          <p:cNvSpPr>
            <a:spLocks noGrp="1"/>
          </p:cNvSpPr>
          <p:nvPr/>
        </p:nvSpPr>
        <p:spPr>
          <a:xfrm>
            <a:off x="1238250" y="2171700"/>
            <a:ext cx="42481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Each slot gets a fixed PRB quota (e.g. </a:t>
            </a:r>
            <a:r>
              <a:rPr lang="en-US" sz="1725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27 PRB)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69E09-239D-B27F-FDCA-5DC52C784052}"/>
              </a:ext>
            </a:extLst>
          </p:cNvPr>
          <p:cNvSpPr>
            <a:spLocks noGrp="1"/>
          </p:cNvSpPr>
          <p:nvPr/>
        </p:nvSpPr>
        <p:spPr>
          <a:xfrm rot="2700000">
            <a:off x="971550" y="3240881"/>
            <a:ext cx="114300" cy="1143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20" name="observed-2">
            <a:extLst>
              <a:ext uri="{FF2B5EF4-FFF2-40B4-BE49-F238E27FC236}">
                <a16:creationId xmlns:a16="http://schemas.microsoft.com/office/drawing/2014/main" id="{D49C2C58-85E5-74C7-AC40-2A008CB46FD9}"/>
              </a:ext>
            </a:extLst>
          </p:cNvPr>
          <p:cNvSpPr>
            <a:spLocks noGrp="1"/>
          </p:cNvSpPr>
          <p:nvPr/>
        </p:nvSpPr>
        <p:spPr>
          <a:xfrm>
            <a:off x="1238250" y="2947988"/>
            <a:ext cx="42481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Give smaller new-data grants for many slots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3A1A49-1ACE-93E6-D526-3476183FC18E}"/>
              </a:ext>
            </a:extLst>
          </p:cNvPr>
          <p:cNvSpPr>
            <a:spLocks noGrp="1"/>
          </p:cNvSpPr>
          <p:nvPr/>
        </p:nvSpPr>
        <p:spPr>
          <a:xfrm rot="2700000">
            <a:off x="6724650" y="2464594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6" name="interpretation-1">
            <a:extLst>
              <a:ext uri="{FF2B5EF4-FFF2-40B4-BE49-F238E27FC236}">
                <a16:creationId xmlns:a16="http://schemas.microsoft.com/office/drawing/2014/main" id="{453136AE-5BAE-BFFF-9F03-BC92A6A142FF}"/>
              </a:ext>
            </a:extLst>
          </p:cNvPr>
          <p:cNvSpPr>
            <a:spLocks noGrp="1"/>
          </p:cNvSpPr>
          <p:nvPr/>
        </p:nvSpPr>
        <p:spPr>
          <a:xfrm>
            <a:off x="6991350" y="2171700"/>
            <a:ext cx="42100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One slot gets a large continuous grant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E4DCA9-18AE-3699-E4A8-F2998D91A866}"/>
              </a:ext>
            </a:extLst>
          </p:cNvPr>
          <p:cNvSpPr>
            <a:spLocks noGrp="1"/>
          </p:cNvSpPr>
          <p:nvPr/>
        </p:nvSpPr>
        <p:spPr>
          <a:xfrm rot="2700000">
            <a:off x="6724650" y="3240881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8" name="interpretation-2">
            <a:extLst>
              <a:ext uri="{FF2B5EF4-FFF2-40B4-BE49-F238E27FC236}">
                <a16:creationId xmlns:a16="http://schemas.microsoft.com/office/drawing/2014/main" id="{32BF44DB-BB7D-CADD-728D-33FF3F9318DB}"/>
              </a:ext>
            </a:extLst>
          </p:cNvPr>
          <p:cNvSpPr>
            <a:spLocks noGrp="1"/>
          </p:cNvSpPr>
          <p:nvPr/>
        </p:nvSpPr>
        <p:spPr>
          <a:xfrm>
            <a:off x="6991350" y="2947988"/>
            <a:ext cx="4210050" cy="719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Then the other slots are given less / zero (gated)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10A9B3A-13FA-9511-DA85-DD7CFD39AC93}"/>
              </a:ext>
            </a:extLst>
          </p:cNvPr>
          <p:cNvSpPr>
            <a:spLocks noGrp="1"/>
          </p:cNvSpPr>
          <p:nvPr/>
        </p:nvSpPr>
        <p:spPr>
          <a:xfrm>
            <a:off x="1009650" y="4184719"/>
            <a:ext cx="9944100" cy="590550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1430">
            <a:solidFill>
              <a:srgbClr val="6594F4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610D5A-238C-3E39-E16F-B9FD41E5C478}"/>
              </a:ext>
            </a:extLst>
          </p:cNvPr>
          <p:cNvSpPr>
            <a:spLocks noGrp="1"/>
          </p:cNvSpPr>
          <p:nvPr/>
        </p:nvSpPr>
        <p:spPr>
          <a:xfrm>
            <a:off x="1200150" y="4279969"/>
            <a:ext cx="9563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540"/>
          </a:bodyPr>
          <a:lstStyle/>
          <a:p>
            <a:pPr algn="ctr">
              <a:lnSpc>
                <a:spcPct val="100000"/>
              </a:lnSpc>
              <a:buNone/>
              <a:defRPr sz="15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157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Both has similar targets for delivere</a:t>
            </a:r>
            <a:r>
              <a:rPr lang="en-US" sz="1575" b="1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d data</a:t>
            </a:r>
            <a:endParaRPr sz="1575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45398967-FE9B-9326-69CC-85DADE8E2D77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CD788DA-D15B-E6B3-639E-C4F8E0B55F9F}"/>
              </a:ext>
            </a:extLst>
          </p:cNvPr>
          <p:cNvSpPr>
            <a:spLocks/>
          </p:cNvSpPr>
          <p:nvPr/>
        </p:nvSpPr>
        <p:spPr>
          <a:xfrm>
            <a:off x="1037151" y="4988019"/>
            <a:ext cx="9944100" cy="1584232"/>
          </a:xfrm>
          <a:prstGeom prst="roundRect">
            <a:avLst>
              <a:gd name="adj" fmla="val 1905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  <p:txBody>
          <a:bodyPr/>
          <a:lstStyle/>
          <a:p>
            <a:endParaRPr lang="en-ID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5D9FA553-E67C-EC36-10C2-EE6F20132CB2}"/>
              </a:ext>
            </a:extLst>
          </p:cNvPr>
          <p:cNvSpPr>
            <a:spLocks noGrp="1"/>
          </p:cNvSpPr>
          <p:nvPr/>
        </p:nvSpPr>
        <p:spPr>
          <a:xfrm>
            <a:off x="1152550" y="5125422"/>
            <a:ext cx="4204904" cy="223358"/>
          </a:xfrm>
          <a:prstGeom prst="roundRect">
            <a:avLst>
              <a:gd name="adj" fmla="val 22222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2314C8-AF1D-D251-7A08-531CCDAF0E9F}"/>
              </a:ext>
            </a:extLst>
          </p:cNvPr>
          <p:cNvSpPr>
            <a:spLocks noGrp="1"/>
          </p:cNvSpPr>
          <p:nvPr/>
        </p:nvSpPr>
        <p:spPr>
          <a:xfrm>
            <a:off x="431321" y="5140419"/>
            <a:ext cx="2277310" cy="2233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</a:t>
            </a:r>
            <a:endParaRPr sz="13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interpretation-1">
            <a:extLst>
              <a:ext uri="{FF2B5EF4-FFF2-40B4-BE49-F238E27FC236}">
                <a16:creationId xmlns:a16="http://schemas.microsoft.com/office/drawing/2014/main" id="{3FC83197-478B-8A9F-1016-F4C5216D9002}"/>
              </a:ext>
            </a:extLst>
          </p:cNvPr>
          <p:cNvSpPr>
            <a:spLocks noGrp="1"/>
          </p:cNvSpPr>
          <p:nvPr/>
        </p:nvSpPr>
        <p:spPr>
          <a:xfrm>
            <a:off x="2000148" y="5448862"/>
            <a:ext cx="4527062" cy="405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One OAI base, but using selectable modes</a:t>
            </a:r>
          </a:p>
        </p:txBody>
      </p:sp>
      <p:sp>
        <p:nvSpPr>
          <p:cNvPr id="49" name="interpretation-2">
            <a:extLst>
              <a:ext uri="{FF2B5EF4-FFF2-40B4-BE49-F238E27FC236}">
                <a16:creationId xmlns:a16="http://schemas.microsoft.com/office/drawing/2014/main" id="{BC98B635-60EA-1C28-94D1-36757B2CEA8D}"/>
              </a:ext>
            </a:extLst>
          </p:cNvPr>
          <p:cNvSpPr>
            <a:spLocks noGrp="1"/>
          </p:cNvSpPr>
          <p:nvPr/>
        </p:nvSpPr>
        <p:spPr>
          <a:xfrm>
            <a:off x="2014645" y="5772303"/>
            <a:ext cx="6312003" cy="4684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Modify phase-3 new-data scheduling (</a:t>
            </a:r>
            <a:r>
              <a:rPr lang="en-US" sz="1725" dirty="0" err="1">
                <a:solidFill>
                  <a:srgbClr val="11152F"/>
                </a:solidFill>
                <a:latin typeface="Arial"/>
                <a:ea typeface="Arial"/>
                <a:cs typeface="Arial"/>
              </a:rPr>
              <a:t>nr_dl_proportional_fair</a:t>
            </a:r>
            <a:r>
              <a:rPr lang="en-US" sz="1725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())</a:t>
            </a:r>
            <a:endParaRPr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interpretation-1">
            <a:extLst>
              <a:ext uri="{FF2B5EF4-FFF2-40B4-BE49-F238E27FC236}">
                <a16:creationId xmlns:a16="http://schemas.microsoft.com/office/drawing/2014/main" id="{5BC6776B-4326-B3C0-A7BD-146FFF84C411}"/>
              </a:ext>
            </a:extLst>
          </p:cNvPr>
          <p:cNvSpPr>
            <a:spLocks noGrp="1"/>
          </p:cNvSpPr>
          <p:nvPr/>
        </p:nvSpPr>
        <p:spPr>
          <a:xfrm>
            <a:off x="2011347" y="6148060"/>
            <a:ext cx="4527062" cy="4052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Keep HARQ etc</a:t>
            </a:r>
            <a:r>
              <a:rPr lang="en-US" sz="1725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. unchanged, add logging</a:t>
            </a:r>
            <a:endParaRPr lang="en-US" sz="1725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77915C5-982F-02F2-6A5F-F90A522967CC}"/>
              </a:ext>
            </a:extLst>
          </p:cNvPr>
          <p:cNvSpPr>
            <a:spLocks noGrp="1"/>
          </p:cNvSpPr>
          <p:nvPr/>
        </p:nvSpPr>
        <p:spPr>
          <a:xfrm rot="2700000">
            <a:off x="1839652" y="5580117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0CDA20-2224-32BC-1114-60FF0BFEC725}"/>
              </a:ext>
            </a:extLst>
          </p:cNvPr>
          <p:cNvSpPr>
            <a:spLocks noGrp="1"/>
          </p:cNvSpPr>
          <p:nvPr/>
        </p:nvSpPr>
        <p:spPr>
          <a:xfrm rot="2700000">
            <a:off x="1839651" y="5943533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BE947C9-965E-B07E-7BB9-2388D24C7919}"/>
              </a:ext>
            </a:extLst>
          </p:cNvPr>
          <p:cNvSpPr>
            <a:spLocks noGrp="1"/>
          </p:cNvSpPr>
          <p:nvPr/>
        </p:nvSpPr>
        <p:spPr>
          <a:xfrm rot="2700000">
            <a:off x="1835275" y="6297846"/>
            <a:ext cx="114300" cy="11430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886229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B552F02C-DD54-4B74-86A4-0741B58947E7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4AD23FB8-334C-4E88-B842-4D4DFA52A2C0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987809-EE8C-4B60-B114-07BFCE0AF3EA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F6E65F-B2A9-456C-8143-C0293D82BA15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8">
            <a:extLst>
              <a:ext uri="{FF2B5EF4-FFF2-40B4-BE49-F238E27FC236}">
                <a16:creationId xmlns:a16="http://schemas.microsoft.com/office/drawing/2014/main" id="{9B47A4CA-7929-404F-B4BE-E1686BADD50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8">
            <a:extLst>
              <a:ext uri="{FF2B5EF4-FFF2-40B4-BE49-F238E27FC236}">
                <a16:creationId xmlns:a16="http://schemas.microsoft.com/office/drawing/2014/main" id="{7E2CC64C-7C22-4B41-A424-320BB7E6DA3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10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8">
            <a:extLst>
              <a:ext uri="{FF2B5EF4-FFF2-40B4-BE49-F238E27FC236}">
                <a16:creationId xmlns:a16="http://schemas.microsoft.com/office/drawing/2014/main" id="{A14BEB60-0F87-43A5-8579-33C8319A0D44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Plans</a:t>
            </a:r>
            <a:endParaRPr sz="360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5D4D84-46FA-476D-938C-424E181B8194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61B931-CBC4-4C32-90A1-084A1F37B99E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AC71A8-05C2-4CFA-A54C-BFEC5354DB67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1219200" cy="342900"/>
          </a:xfrm>
          <a:prstGeom prst="roundRect">
            <a:avLst>
              <a:gd name="adj" fmla="val 22222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7B427-CDE5-4726-8897-C4E3E6105B72}"/>
              </a:ext>
            </a:extLst>
          </p:cNvPr>
          <p:cNvSpPr>
            <a:spLocks noGrp="1"/>
          </p:cNvSpPr>
          <p:nvPr/>
        </p:nvSpPr>
        <p:spPr>
          <a:xfrm>
            <a:off x="762000" y="1485900"/>
            <a:ext cx="1219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D527848-C8E7-46FC-A94D-CC5AD99C8541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6096000" cy="895350"/>
          </a:xfrm>
          <a:prstGeom prst="roundRect">
            <a:avLst>
              <a:gd name="adj" fmla="val 8511"/>
            </a:avLst>
          </a:prstGeom>
          <a:solidFill>
            <a:srgbClr val="F7F9FF"/>
          </a:solidFill>
          <a:ln w="12383">
            <a:solidFill>
              <a:srgbClr val="A7BEFF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9B48079-01DD-4FAD-8D18-F9B00B602F25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514350" cy="514350"/>
          </a:xfrm>
          <a:prstGeom prst="ellipse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288EBD-4734-417E-B21F-995B8F40DB7C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A9F5C3-5F7E-43AF-9E1F-B12318EC4B8E}"/>
              </a:ext>
            </a:extLst>
          </p:cNvPr>
          <p:cNvSpPr>
            <a:spLocks noGrp="1"/>
          </p:cNvSpPr>
          <p:nvPr/>
        </p:nvSpPr>
        <p:spPr>
          <a:xfrm>
            <a:off x="1619250" y="21145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Complete the baseline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2AF7BD4-E67F-493A-93EF-1ACE57B179A4}"/>
              </a:ext>
            </a:extLst>
          </p:cNvPr>
          <p:cNvSpPr>
            <a:spLocks noGrp="1"/>
          </p:cNvSpPr>
          <p:nvPr/>
        </p:nvSpPr>
        <p:spPr>
          <a:xfrm>
            <a:off x="1619250" y="24384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655"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Run 700, 800, and 900 Mbps individually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28A7C6-3712-4CBD-837B-B0C50DF4DE4D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6096000" cy="895350"/>
          </a:xfrm>
          <a:prstGeom prst="roundRect">
            <a:avLst>
              <a:gd name="adj" fmla="val 8511"/>
            </a:avLst>
          </a:prstGeom>
          <a:solidFill>
            <a:srgbClr val="F7F9FF"/>
          </a:solidFill>
          <a:ln w="12383">
            <a:solidFill>
              <a:srgbClr val="A7BEFF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80368C4-47A3-4B80-80B6-A281BDB3ECFA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514350" cy="514350"/>
          </a:xfrm>
          <a:prstGeom prst="ellipse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E898A-516A-40DC-AE04-9F15C9E22DF3}"/>
              </a:ext>
            </a:extLst>
          </p:cNvPr>
          <p:cNvSpPr>
            <a:spLocks noGrp="1"/>
          </p:cNvSpPr>
          <p:nvPr/>
        </p:nvSpPr>
        <p:spPr>
          <a:xfrm>
            <a:off x="914400" y="32956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28984B-8938-4DE2-A71D-192234C0889F}"/>
              </a:ext>
            </a:extLst>
          </p:cNvPr>
          <p:cNvSpPr>
            <a:spLocks noGrp="1"/>
          </p:cNvSpPr>
          <p:nvPr/>
        </p:nvSpPr>
        <p:spPr>
          <a:xfrm>
            <a:off x="1619250" y="32194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Validate the model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08FBCF-DB1A-4A81-A142-92B61BE7D505}"/>
              </a:ext>
            </a:extLst>
          </p:cNvPr>
          <p:cNvSpPr>
            <a:spLocks noGrp="1"/>
          </p:cNvSpPr>
          <p:nvPr/>
        </p:nvSpPr>
        <p:spPr>
          <a:xfrm>
            <a:off x="1619250" y="35433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307"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Mean + variance</a:t>
            </a:r>
            <a:r>
              <a:rPr lang="en-US" sz="1575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, </a:t>
            </a:r>
            <a:r>
              <a:rPr sz="15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uncertainty ranges</a:t>
            </a:r>
            <a:r>
              <a:rPr lang="en-US" sz="15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,</a:t>
            </a:r>
            <a:r>
              <a:rPr sz="15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separate saturation.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CA8880E-46C4-4C8E-8A44-84F648427043}"/>
              </a:ext>
            </a:extLst>
          </p:cNvPr>
          <p:cNvSpPr>
            <a:spLocks noGrp="1"/>
          </p:cNvSpPr>
          <p:nvPr/>
        </p:nvSpPr>
        <p:spPr>
          <a:xfrm>
            <a:off x="742950" y="4210050"/>
            <a:ext cx="6096000" cy="895350"/>
          </a:xfrm>
          <a:prstGeom prst="roundRect">
            <a:avLst>
              <a:gd name="adj" fmla="val 8511"/>
            </a:avLst>
          </a:prstGeom>
          <a:solidFill>
            <a:srgbClr val="F7F9FF"/>
          </a:solidFill>
          <a:ln w="12383">
            <a:solidFill>
              <a:srgbClr val="A7BEFF"/>
            </a:solidFill>
            <a:prstDash val="solid"/>
          </a:ln>
        </p:spPr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501362A-415B-4C2B-B3C6-45665926DC9D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514350" cy="514350"/>
          </a:xfrm>
          <a:prstGeom prst="ellipse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F1B2A23-0FCF-4772-8DA0-DED274DBF472}"/>
              </a:ext>
            </a:extLst>
          </p:cNvPr>
          <p:cNvSpPr>
            <a:spLocks noGrp="1"/>
          </p:cNvSpPr>
          <p:nvPr/>
        </p:nvSpPr>
        <p:spPr>
          <a:xfrm>
            <a:off x="914400" y="4400550"/>
            <a:ext cx="514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B19F07-045D-40B6-93EF-A5B65A5703EB}"/>
              </a:ext>
            </a:extLst>
          </p:cNvPr>
          <p:cNvSpPr>
            <a:spLocks noGrp="1"/>
          </p:cNvSpPr>
          <p:nvPr/>
        </p:nvSpPr>
        <p:spPr>
          <a:xfrm>
            <a:off x="1619250" y="43243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Deeper scheduler experiment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E951BB1-C779-48C7-8E89-CE14A6A41870}"/>
              </a:ext>
            </a:extLst>
          </p:cNvPr>
          <p:cNvSpPr>
            <a:spLocks noGrp="1"/>
          </p:cNvSpPr>
          <p:nvPr/>
        </p:nvSpPr>
        <p:spPr>
          <a:xfrm>
            <a:off x="1619250" y="46482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588" lnSpcReduction="20000"/>
          </a:bodyPr>
          <a:lstStyle/>
          <a:p>
            <a:pPr algn="l">
              <a:lnSpc>
                <a:spcPct val="100000"/>
              </a:lnSpc>
              <a:buNone/>
              <a:defRPr sz="15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One current OAI base</a:t>
            </a:r>
            <a:r>
              <a:rPr lang="en-US" sz="15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,</a:t>
            </a:r>
            <a:r>
              <a:rPr sz="15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runtime-selectable baseline / custom modes.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E0931046-076A-4819-ADA9-9208A17510FA}"/>
              </a:ext>
            </a:extLst>
          </p:cNvPr>
          <p:cNvSpPr>
            <a:spLocks noGrp="1"/>
          </p:cNvSpPr>
          <p:nvPr/>
        </p:nvSpPr>
        <p:spPr>
          <a:xfrm>
            <a:off x="7372350" y="1485900"/>
            <a:ext cx="3028950" cy="342900"/>
          </a:xfrm>
          <a:prstGeom prst="roundRect">
            <a:avLst>
              <a:gd name="adj" fmla="val 22222"/>
            </a:avLst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0367D5-15B2-4E27-AB90-AAF0E614E932}"/>
              </a:ext>
            </a:extLst>
          </p:cNvPr>
          <p:cNvSpPr>
            <a:spLocks noGrp="1"/>
          </p:cNvSpPr>
          <p:nvPr/>
        </p:nvSpPr>
        <p:spPr>
          <a:xfrm>
            <a:off x="7372350" y="1485900"/>
            <a:ext cx="3028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FINAL GOALS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43CBA61-C85B-498E-A76D-1E67F8A8F7CB}"/>
              </a:ext>
            </a:extLst>
          </p:cNvPr>
          <p:cNvSpPr>
            <a:spLocks noGrp="1"/>
          </p:cNvSpPr>
          <p:nvPr/>
        </p:nvSpPr>
        <p:spPr>
          <a:xfrm rot="2700000">
            <a:off x="7410450" y="231457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1" name="final-goal-1">
            <a:extLst>
              <a:ext uri="{FF2B5EF4-FFF2-40B4-BE49-F238E27FC236}">
                <a16:creationId xmlns:a16="http://schemas.microsoft.com/office/drawing/2014/main" id="{2AA84444-3759-44F7-8C98-ADEDD60DB982}"/>
              </a:ext>
            </a:extLst>
          </p:cNvPr>
          <p:cNvSpPr>
            <a:spLocks noGrp="1"/>
          </p:cNvSpPr>
          <p:nvPr/>
        </p:nvSpPr>
        <p:spPr>
          <a:xfrm>
            <a:off x="7677150" y="2057400"/>
            <a:ext cx="3562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19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Reproducible t</a:t>
            </a:r>
            <a:r>
              <a:rPr lang="en-US"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hroughput vs power</a:t>
            </a: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24C097-9796-4664-99FF-32E0C7824DBE}"/>
              </a:ext>
            </a:extLst>
          </p:cNvPr>
          <p:cNvSpPr>
            <a:spLocks noGrp="1"/>
          </p:cNvSpPr>
          <p:nvPr/>
        </p:nvSpPr>
        <p:spPr>
          <a:xfrm rot="2700000">
            <a:off x="7410450" y="305752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3" name="final-goal-2">
            <a:extLst>
              <a:ext uri="{FF2B5EF4-FFF2-40B4-BE49-F238E27FC236}">
                <a16:creationId xmlns:a16="http://schemas.microsoft.com/office/drawing/2014/main" id="{84EC7FD3-7E1B-4936-9397-5F14173F7C58}"/>
              </a:ext>
            </a:extLst>
          </p:cNvPr>
          <p:cNvSpPr>
            <a:spLocks noGrp="1"/>
          </p:cNvSpPr>
          <p:nvPr/>
        </p:nvSpPr>
        <p:spPr>
          <a:xfrm>
            <a:off x="7677150" y="2800350"/>
            <a:ext cx="3562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B</a:t>
            </a: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aseline</a:t>
            </a:r>
            <a:r>
              <a:rPr lang="en-US"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vs custom </a:t>
            </a: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scheduler comparison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1FF13A0-B9DB-4C20-B522-61F6674FCFFB}"/>
              </a:ext>
            </a:extLst>
          </p:cNvPr>
          <p:cNvSpPr>
            <a:spLocks noGrp="1"/>
          </p:cNvSpPr>
          <p:nvPr/>
        </p:nvSpPr>
        <p:spPr>
          <a:xfrm rot="2700000">
            <a:off x="7410450" y="380047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5" name="final-goal-3">
            <a:extLst>
              <a:ext uri="{FF2B5EF4-FFF2-40B4-BE49-F238E27FC236}">
                <a16:creationId xmlns:a16="http://schemas.microsoft.com/office/drawing/2014/main" id="{8CF60424-03B0-4F05-A505-D59A40C8178E}"/>
              </a:ext>
            </a:extLst>
          </p:cNvPr>
          <p:cNvSpPr>
            <a:spLocks noGrp="1"/>
          </p:cNvSpPr>
          <p:nvPr/>
        </p:nvSpPr>
        <p:spPr>
          <a:xfrm>
            <a:off x="7677150" y="3543300"/>
            <a:ext cx="3562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4706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</a:t>
            </a: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hroughput, power, and energy/bit</a:t>
            </a:r>
            <a:r>
              <a:rPr lang="en-US"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data</a:t>
            </a:r>
            <a:endParaRPr sz="1800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4580F21-B793-4ACF-9B5E-EF0BF604936F}"/>
              </a:ext>
            </a:extLst>
          </p:cNvPr>
          <p:cNvSpPr>
            <a:spLocks noGrp="1"/>
          </p:cNvSpPr>
          <p:nvPr/>
        </p:nvSpPr>
        <p:spPr>
          <a:xfrm rot="2700000">
            <a:off x="7410450" y="4543425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7" name="final-goal-4">
            <a:extLst>
              <a:ext uri="{FF2B5EF4-FFF2-40B4-BE49-F238E27FC236}">
                <a16:creationId xmlns:a16="http://schemas.microsoft.com/office/drawing/2014/main" id="{1F15415D-DD76-423F-BB95-A202C20DB7E3}"/>
              </a:ext>
            </a:extLst>
          </p:cNvPr>
          <p:cNvSpPr>
            <a:spLocks noGrp="1"/>
          </p:cNvSpPr>
          <p:nvPr/>
        </p:nvSpPr>
        <p:spPr>
          <a:xfrm>
            <a:off x="7677150" y="4286250"/>
            <a:ext cx="3562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Final checklist, dataset, plots, methodology, report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CFC324F-E50D-4722-A8CC-3AF959AB86F0}"/>
              </a:ext>
            </a:extLst>
          </p:cNvPr>
          <p:cNvSpPr>
            <a:spLocks noGrp="1"/>
          </p:cNvSpPr>
          <p:nvPr/>
        </p:nvSpPr>
        <p:spPr>
          <a:xfrm>
            <a:off x="781050" y="5486400"/>
            <a:ext cx="10629900" cy="685800"/>
          </a:xfrm>
          <a:prstGeom prst="roundRect">
            <a:avLst>
              <a:gd name="adj" fmla="val 11111"/>
            </a:avLst>
          </a:prstGeom>
          <a:solidFill>
            <a:srgbClr val="EEF3FF"/>
          </a:solidFill>
          <a:ln w="12383">
            <a:solidFill>
              <a:srgbClr val="6594F4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3BA4E4-9583-4075-AD80-32E469B2C082}"/>
              </a:ext>
            </a:extLst>
          </p:cNvPr>
          <p:cNvSpPr>
            <a:spLocks noGrp="1"/>
          </p:cNvSpPr>
          <p:nvPr/>
        </p:nvSpPr>
        <p:spPr>
          <a:xfrm>
            <a:off x="1047750" y="5562600"/>
            <a:ext cx="1009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26" lnSpcReduction="10000"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1725" b="1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There’s a l</a:t>
            </a:r>
            <a:r>
              <a:rPr sz="172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arge load-independent O-RU power component. </a:t>
            </a:r>
            <a:r>
              <a:rPr lang="en-US" sz="172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I will also </a:t>
            </a:r>
            <a:r>
              <a:rPr sz="172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test whether scheduler behavior changes power beyond normal run-to-run variation.</a:t>
            </a: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756AC23A-0CD7-45E7-8AD7-E01FCC084F10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8933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84866-3CD3-5E2B-91AF-0407BF4F4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96105C1D-6021-428A-0585-5BD8AE8F4ED1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9935FB18-9DFD-8502-F980-45E190F38B6E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905B29-54DC-4C5A-FFE9-92CE26CCEBB0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9CAB08-DCA9-5B99-F9E4-BC8FF037E082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8">
            <a:extLst>
              <a:ext uri="{FF2B5EF4-FFF2-40B4-BE49-F238E27FC236}">
                <a16:creationId xmlns:a16="http://schemas.microsoft.com/office/drawing/2014/main" id="{684B3ECE-B1CF-A7CC-DAE4-3405070C2F83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WEEKLY UPDATE</a:t>
            </a:r>
          </a:p>
        </p:txBody>
      </p:sp>
      <p:sp>
        <p:nvSpPr>
          <p:cNvPr id="7" name="slide-number-8">
            <a:extLst>
              <a:ext uri="{FF2B5EF4-FFF2-40B4-BE49-F238E27FC236}">
                <a16:creationId xmlns:a16="http://schemas.microsoft.com/office/drawing/2014/main" id="{404F722B-D695-89F2-5958-063CA00E8913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10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8">
            <a:extLst>
              <a:ext uri="{FF2B5EF4-FFF2-40B4-BE49-F238E27FC236}">
                <a16:creationId xmlns:a16="http://schemas.microsoft.com/office/drawing/2014/main" id="{00213CBD-E5DF-41C5-8884-F86CA4697AF3}"/>
              </a:ext>
            </a:extLst>
          </p:cNvPr>
          <p:cNvSpPr>
            <a:spLocks noGrp="1"/>
          </p:cNvSpPr>
          <p:nvPr/>
        </p:nvSpPr>
        <p:spPr>
          <a:xfrm>
            <a:off x="1314450" y="2765125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Thank You!</a:t>
            </a:r>
            <a:endParaRPr sz="360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19F8DA31-10C2-74AB-C223-23664E92C35E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615059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E3501B80-428F-414E-B681-89EE8A3BC43E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43794443-E338-4E99-9BFC-3E577B1B9BF4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A994C2CE-B0AA-45C1-8C08-58DBB7FC01E3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B6B9F5-7D21-4778-8F2C-9194394C363C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D0CB6E-F087-4983-BAD6-9FCB25192BCD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10">
            <a:extLst>
              <a:ext uri="{FF2B5EF4-FFF2-40B4-BE49-F238E27FC236}">
                <a16:creationId xmlns:a16="http://schemas.microsoft.com/office/drawing/2014/main" id="{5F794C1F-6773-4189-B562-094F1CFF4098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7" name="slide-number-10">
            <a:extLst>
              <a:ext uri="{FF2B5EF4-FFF2-40B4-BE49-F238E27FC236}">
                <a16:creationId xmlns:a16="http://schemas.microsoft.com/office/drawing/2014/main" id="{0A0CE708-F7E2-4EEA-BA4D-52B92C3DC94B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200" b="1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10">
            <a:extLst>
              <a:ext uri="{FF2B5EF4-FFF2-40B4-BE49-F238E27FC236}">
                <a16:creationId xmlns:a16="http://schemas.microsoft.com/office/drawing/2014/main" id="{C3405328-4FCC-41C2-A47A-783A77DA3C74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VNF and PNF are separate runtimes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10BC27F-F334-49DD-9E0F-FA858054EF6A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35988-2461-4010-8681-0D5387ADCC2D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BC8EE5-581E-4C6B-8BD5-CA18E7C22DE5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oundRect">
            <a:avLst>
              <a:gd name="adj" fmla="val 26667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DAC0D0-6A16-4D0D-9A59-AF9E2EC18F4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- NOT IN TIMED FLOW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946C8402-167E-4DE2-B5FA-514B25102D01}"/>
              </a:ext>
            </a:extLst>
          </p:cNvPr>
          <p:cNvSpPr>
            <a:spLocks noGrp="1"/>
          </p:cNvSpPr>
          <p:nvPr/>
        </p:nvSpPr>
        <p:spPr>
          <a:xfrm>
            <a:off x="5524500" y="2895600"/>
            <a:ext cx="1066800" cy="666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7AD3D6-741E-4881-ADFE-A0AB6FE6799A}"/>
              </a:ext>
            </a:extLst>
          </p:cNvPr>
          <p:cNvSpPr>
            <a:spLocks noGrp="1"/>
          </p:cNvSpPr>
          <p:nvPr/>
        </p:nvSpPr>
        <p:spPr>
          <a:xfrm>
            <a:off x="5295900" y="25717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nFAPI P5/P7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9F3282-1B52-449C-8C2B-4853A815AFF3}"/>
              </a:ext>
            </a:extLst>
          </p:cNvPr>
          <p:cNvSpPr>
            <a:spLocks noGrp="1"/>
          </p:cNvSpPr>
          <p:nvPr/>
        </p:nvSpPr>
        <p:spPr>
          <a:xfrm>
            <a:off x="952500" y="1733550"/>
            <a:ext cx="4305300" cy="3238500"/>
          </a:xfrm>
          <a:prstGeom prst="roundRect">
            <a:avLst>
              <a:gd name="adj" fmla="val 2353"/>
            </a:avLst>
          </a:prstGeom>
          <a:solidFill>
            <a:srgbClr val="EEF3FF"/>
          </a:solidFill>
          <a:ln w="19050">
            <a:solidFill>
              <a:srgbClr val="6594F4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1118FAE-BB31-42F0-88BC-C864284DCA4C}"/>
              </a:ext>
            </a:extLst>
          </p:cNvPr>
          <p:cNvSpPr>
            <a:spLocks noGrp="1"/>
          </p:cNvSpPr>
          <p:nvPr/>
        </p:nvSpPr>
        <p:spPr>
          <a:xfrm>
            <a:off x="1390650" y="1962150"/>
            <a:ext cx="3429000" cy="381000"/>
          </a:xfrm>
          <a:prstGeom prst="roundRect">
            <a:avLst>
              <a:gd name="adj" fmla="val 20000"/>
            </a:avLst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511093-75DF-4904-A786-40E629780202}"/>
              </a:ext>
            </a:extLst>
          </p:cNvPr>
          <p:cNvSpPr>
            <a:spLocks noGrp="1"/>
          </p:cNvSpPr>
          <p:nvPr/>
        </p:nvSpPr>
        <p:spPr>
          <a:xfrm>
            <a:off x="1390650" y="19621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KUBERNETES VNF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D3242B-DBAC-4351-8C2E-669228147DBF}"/>
              </a:ext>
            </a:extLst>
          </p:cNvPr>
          <p:cNvSpPr>
            <a:spLocks noGrp="1"/>
          </p:cNvSpPr>
          <p:nvPr/>
        </p:nvSpPr>
        <p:spPr>
          <a:xfrm>
            <a:off x="1352550" y="26479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Contains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99F7C4-3AD0-4292-8945-4C52AD29B854}"/>
              </a:ext>
            </a:extLst>
          </p:cNvPr>
          <p:cNvSpPr>
            <a:spLocks noGrp="1"/>
          </p:cNvSpPr>
          <p:nvPr/>
        </p:nvSpPr>
        <p:spPr>
          <a:xfrm rot="2700000">
            <a:off x="1390650" y="3238500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AF7EB0-1A64-4255-BBA8-55E1EFDB7D31}"/>
              </a:ext>
            </a:extLst>
          </p:cNvPr>
          <p:cNvSpPr>
            <a:spLocks noGrp="1"/>
          </p:cNvSpPr>
          <p:nvPr/>
        </p:nvSpPr>
        <p:spPr>
          <a:xfrm>
            <a:off x="1657350" y="30861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OAI MAC scheduler under test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6238B1-5F28-47EB-83F0-082EC8054A3F}"/>
              </a:ext>
            </a:extLst>
          </p:cNvPr>
          <p:cNvSpPr>
            <a:spLocks noGrp="1"/>
          </p:cNvSpPr>
          <p:nvPr/>
        </p:nvSpPr>
        <p:spPr>
          <a:xfrm rot="2700000">
            <a:off x="1390650" y="3733800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218BB01-1691-4BAF-B36B-FA9DCC4CD44E}"/>
              </a:ext>
            </a:extLst>
          </p:cNvPr>
          <p:cNvSpPr>
            <a:spLocks noGrp="1"/>
          </p:cNvSpPr>
          <p:nvPr/>
        </p:nvSpPr>
        <p:spPr>
          <a:xfrm>
            <a:off x="1657350" y="35814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Digest-pinned container image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40B778-C239-4F05-8BA6-62E4F23CE4AD}"/>
              </a:ext>
            </a:extLst>
          </p:cNvPr>
          <p:cNvSpPr>
            <a:spLocks noGrp="1"/>
          </p:cNvSpPr>
          <p:nvPr/>
        </p:nvSpPr>
        <p:spPr>
          <a:xfrm rot="2700000">
            <a:off x="1390650" y="4229100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485C77-8582-4CA7-B8E6-060B54607CC6}"/>
              </a:ext>
            </a:extLst>
          </p:cNvPr>
          <p:cNvSpPr>
            <a:spLocks noGrp="1"/>
          </p:cNvSpPr>
          <p:nvPr/>
        </p:nvSpPr>
        <p:spPr>
          <a:xfrm>
            <a:off x="1657350" y="40767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654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VNF configuration and pod logs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41FE146-4A78-474A-9BD4-2206E3E1B82F}"/>
              </a:ext>
            </a:extLst>
          </p:cNvPr>
          <p:cNvSpPr>
            <a:spLocks noGrp="1"/>
          </p:cNvSpPr>
          <p:nvPr/>
        </p:nvSpPr>
        <p:spPr>
          <a:xfrm>
            <a:off x="6934200" y="1733550"/>
            <a:ext cx="4305300" cy="3238500"/>
          </a:xfrm>
          <a:prstGeom prst="roundRect">
            <a:avLst>
              <a:gd name="adj" fmla="val 2353"/>
            </a:avLst>
          </a:prstGeom>
          <a:solidFill>
            <a:srgbClr val="F7F9FF"/>
          </a:solidFill>
          <a:ln w="19050">
            <a:solidFill>
              <a:srgbClr val="0B0B67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DED98A-D960-4C50-BE98-68E21FD7843F}"/>
              </a:ext>
            </a:extLst>
          </p:cNvPr>
          <p:cNvSpPr>
            <a:spLocks noGrp="1"/>
          </p:cNvSpPr>
          <p:nvPr/>
        </p:nvSpPr>
        <p:spPr>
          <a:xfrm>
            <a:off x="7372350" y="1962150"/>
            <a:ext cx="3429000" cy="381000"/>
          </a:xfrm>
          <a:prstGeom prst="roundRect">
            <a:avLst>
              <a:gd name="adj" fmla="val 20000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C34DF16-55E8-4A11-851F-6331FEEE2EC6}"/>
              </a:ext>
            </a:extLst>
          </p:cNvPr>
          <p:cNvSpPr>
            <a:spLocks noGrp="1"/>
          </p:cNvSpPr>
          <p:nvPr/>
        </p:nvSpPr>
        <p:spPr>
          <a:xfrm>
            <a:off x="7372350" y="1962150"/>
            <a:ext cx="342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PNF WORKER RUNTIME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67AD70-FD78-4D7A-AEE4-01CCBE9F7A7E}"/>
              </a:ext>
            </a:extLst>
          </p:cNvPr>
          <p:cNvSpPr>
            <a:spLocks noGrp="1"/>
          </p:cNvSpPr>
          <p:nvPr/>
        </p:nvSpPr>
        <p:spPr>
          <a:xfrm>
            <a:off x="7334250" y="264795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Executes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9AE130-4CDD-4E73-93C5-51ECE9743B7B}"/>
              </a:ext>
            </a:extLst>
          </p:cNvPr>
          <p:cNvSpPr>
            <a:spLocks noGrp="1"/>
          </p:cNvSpPr>
          <p:nvPr/>
        </p:nvSpPr>
        <p:spPr>
          <a:xfrm rot="2700000">
            <a:off x="7372350" y="3238500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570415-ABF0-4581-B550-00F44AF6FA75}"/>
              </a:ext>
            </a:extLst>
          </p:cNvPr>
          <p:cNvSpPr>
            <a:spLocks noGrp="1"/>
          </p:cNvSpPr>
          <p:nvPr/>
        </p:nvSpPr>
        <p:spPr>
          <a:xfrm>
            <a:off x="7639050" y="30861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328" lnSpcReduction="20000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Worker-mounted OAI / FHI / DPDK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C437A6A-7B73-4DDA-AC2F-5BA1F2D0B7E6}"/>
              </a:ext>
            </a:extLst>
          </p:cNvPr>
          <p:cNvSpPr>
            <a:spLocks noGrp="1"/>
          </p:cNvSpPr>
          <p:nvPr/>
        </p:nvSpPr>
        <p:spPr>
          <a:xfrm rot="2700000">
            <a:off x="7372350" y="3733800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09AF7C-EFB0-4C53-924C-E0A5712615C4}"/>
              </a:ext>
            </a:extLst>
          </p:cNvPr>
          <p:cNvSpPr>
            <a:spLocks noGrp="1"/>
          </p:cNvSpPr>
          <p:nvPr/>
        </p:nvSpPr>
        <p:spPr>
          <a:xfrm>
            <a:off x="7639050" y="35814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489" lnSpcReduction="20000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Separate commit and local repairs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080576-EB10-4DD5-BECA-C8E8C7697266}"/>
              </a:ext>
            </a:extLst>
          </p:cNvPr>
          <p:cNvSpPr>
            <a:spLocks noGrp="1"/>
          </p:cNvSpPr>
          <p:nvPr/>
        </p:nvSpPr>
        <p:spPr>
          <a:xfrm rot="2700000">
            <a:off x="7372350" y="4229100"/>
            <a:ext cx="114300" cy="11430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0B981AF-7D20-4F42-A72B-B9B112F6F301}"/>
              </a:ext>
            </a:extLst>
          </p:cNvPr>
          <p:cNvSpPr>
            <a:spLocks noGrp="1"/>
          </p:cNvSpPr>
          <p:nvPr/>
        </p:nvSpPr>
        <p:spPr>
          <a:xfrm>
            <a:off x="7639050" y="4076700"/>
            <a:ext cx="30670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411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RU / P7 behavior and worker logs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901635A-E991-458E-80A0-207B7AC4A292}"/>
              </a:ext>
            </a:extLst>
          </p:cNvPr>
          <p:cNvSpPr>
            <a:spLocks noGrp="1"/>
          </p:cNvSpPr>
          <p:nvPr/>
        </p:nvSpPr>
        <p:spPr>
          <a:xfrm>
            <a:off x="1790700" y="5295900"/>
            <a:ext cx="8610600" cy="590550"/>
          </a:xfrm>
          <a:prstGeom prst="roundRect">
            <a:avLst>
              <a:gd name="adj" fmla="val 12903"/>
            </a:avLst>
          </a:prstGeom>
          <a:solidFill>
            <a:srgbClr val="FFF4DD"/>
          </a:solidFill>
          <a:ln w="12383">
            <a:solidFill>
              <a:srgbClr val="F5C66D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7EF5E82-6EB0-466F-BCCC-8C7AA4340C4D}"/>
              </a:ext>
            </a:extLst>
          </p:cNvPr>
          <p:cNvSpPr>
            <a:spLocks noGrp="1"/>
          </p:cNvSpPr>
          <p:nvPr/>
        </p:nvSpPr>
        <p:spPr>
          <a:xfrm>
            <a:off x="2038350" y="5391150"/>
            <a:ext cx="8115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7C4B00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C4B00"/>
                </a:solidFill>
                <a:latin typeface="Arial"/>
                <a:ea typeface="Arial"/>
                <a:cs typeface="Arial"/>
              </a:rPr>
              <a:t>A VNF rollout changes the scheduler but leaves the PNF runtime untouched.</a:t>
            </a:r>
          </a:p>
        </p:txBody>
      </p:sp>
    </p:spTree>
    <p:extLst>
      <p:ext uri="{BB962C8B-B14F-4D97-AF65-F5344CB8AC3E}">
        <p14:creationId xmlns:p14="http://schemas.microsoft.com/office/powerpoint/2010/main" val="1646615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66D33B9B-FD8C-439C-BC19-D123E50E77CB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2D71A27E-757B-4238-A32C-AF23F67F4A97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D144FD25-0A77-4DA8-A92D-AA2FCDA2F2D3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155D70-80AD-4B56-AE98-433E2BC902EA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C6CB95-FA22-4E4B-B5CA-9B4F6D4D3FF7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9">
            <a:extLst>
              <a:ext uri="{FF2B5EF4-FFF2-40B4-BE49-F238E27FC236}">
                <a16:creationId xmlns:a16="http://schemas.microsoft.com/office/drawing/2014/main" id="{24F7E432-1D3A-4498-B3CF-E457683608D1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7" name="slide-number-9">
            <a:extLst>
              <a:ext uri="{FF2B5EF4-FFF2-40B4-BE49-F238E27FC236}">
                <a16:creationId xmlns:a16="http://schemas.microsoft.com/office/drawing/2014/main" id="{0B56448B-6DEF-4414-8BED-788F9E855ED5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lang="en-US" sz="1200" b="1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12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9">
            <a:extLst>
              <a:ext uri="{FF2B5EF4-FFF2-40B4-BE49-F238E27FC236}">
                <a16:creationId xmlns:a16="http://schemas.microsoft.com/office/drawing/2014/main" id="{117EEB15-431C-4DBD-AC35-3BE3F3C08041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6903"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Constants</a:t>
            </a:r>
            <a:endParaRPr sz="360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750A27-42EE-4532-9609-BD4BB6AE0145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219B39-2298-4443-81E5-22B7E10D3D3B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9D1093-8A2C-4557-B600-DEDB1A361F2D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- NT IN TIMED FLOW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1A76060-5257-41FE-86FD-A4337DB5EBBF}"/>
              </a:ext>
            </a:extLst>
          </p:cNvPr>
          <p:cNvSpPr>
            <a:spLocks noGrp="1"/>
          </p:cNvSpPr>
          <p:nvPr/>
        </p:nvSpPr>
        <p:spPr>
          <a:xfrm>
            <a:off x="990600" y="1581150"/>
            <a:ext cx="4095750" cy="400050"/>
          </a:xfrm>
          <a:prstGeom prst="roundRect">
            <a:avLst>
              <a:gd name="adj" fmla="val 19048"/>
            </a:avLst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0FE040-FE10-45CC-8BA0-239CE87C77E1}"/>
              </a:ext>
            </a:extLst>
          </p:cNvPr>
          <p:cNvSpPr>
            <a:spLocks noGrp="1"/>
          </p:cNvSpPr>
          <p:nvPr/>
        </p:nvSpPr>
        <p:spPr>
          <a:xfrm>
            <a:off x="990600" y="15811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Constants</a:t>
            </a:r>
            <a:endParaRPr sz="13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8D8D70-5582-4562-A7EA-3C6DDC879A85}"/>
              </a:ext>
            </a:extLst>
          </p:cNvPr>
          <p:cNvSpPr>
            <a:spLocks noGrp="1"/>
          </p:cNvSpPr>
          <p:nvPr/>
        </p:nvSpPr>
        <p:spPr>
          <a:xfrm>
            <a:off x="7105650" y="1581150"/>
            <a:ext cx="4095750" cy="400050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4FDC6E-1622-4708-A350-3CC1F7AD0F1C}"/>
              </a:ext>
            </a:extLst>
          </p:cNvPr>
          <p:cNvSpPr>
            <a:spLocks noGrp="1"/>
          </p:cNvSpPr>
          <p:nvPr/>
        </p:nvSpPr>
        <p:spPr>
          <a:xfrm>
            <a:off x="7105650" y="1581150"/>
            <a:ext cx="4095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lang="en-US" sz="1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Variables</a:t>
            </a:r>
            <a:endParaRPr sz="1350" b="1" i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CF32B3-6FEC-4609-ACED-A5535494CF23}"/>
              </a:ext>
            </a:extLst>
          </p:cNvPr>
          <p:cNvSpPr>
            <a:spLocks noGrp="1"/>
          </p:cNvSpPr>
          <p:nvPr/>
        </p:nvSpPr>
        <p:spPr>
          <a:xfrm>
            <a:off x="6076950" y="1518759"/>
            <a:ext cx="38100" cy="3143250"/>
          </a:xfrm>
          <a:prstGeom prst="rect">
            <a:avLst/>
          </a:prstGeom>
          <a:solidFill>
            <a:srgbClr val="A7BEFF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C8BDE4-A38D-4D82-84A9-AFC17CE2CD9B}"/>
              </a:ext>
            </a:extLst>
          </p:cNvPr>
          <p:cNvSpPr>
            <a:spLocks noGrp="1"/>
          </p:cNvSpPr>
          <p:nvPr/>
        </p:nvSpPr>
        <p:spPr>
          <a:xfrm rot="2700000">
            <a:off x="1104900" y="236982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19" name="control-fixed-1">
            <a:extLst>
              <a:ext uri="{FF2B5EF4-FFF2-40B4-BE49-F238E27FC236}">
                <a16:creationId xmlns:a16="http://schemas.microsoft.com/office/drawing/2014/main" id="{E869BF8E-4631-4848-8D89-7E883FF4FB0B}"/>
              </a:ext>
            </a:extLst>
          </p:cNvPr>
          <p:cNvSpPr>
            <a:spLocks noGrp="1"/>
          </p:cNvSpPr>
          <p:nvPr/>
        </p:nvSpPr>
        <p:spPr>
          <a:xfrm>
            <a:off x="1371600" y="2228850"/>
            <a:ext cx="4171950" cy="415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7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Samsung UE and target cell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9EDFC11-E87F-4CC6-8E4E-430EC1CB59D4}"/>
              </a:ext>
            </a:extLst>
          </p:cNvPr>
          <p:cNvSpPr>
            <a:spLocks noGrp="1"/>
          </p:cNvSpPr>
          <p:nvPr/>
        </p:nvSpPr>
        <p:spPr>
          <a:xfrm rot="2700000">
            <a:off x="1104900" y="286131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1" name="control-fixed-2">
            <a:extLst>
              <a:ext uri="{FF2B5EF4-FFF2-40B4-BE49-F238E27FC236}">
                <a16:creationId xmlns:a16="http://schemas.microsoft.com/office/drawing/2014/main" id="{DB716305-9E3E-4CC8-BAB5-E629242CAED6}"/>
              </a:ext>
            </a:extLst>
          </p:cNvPr>
          <p:cNvSpPr>
            <a:spLocks noGrp="1"/>
          </p:cNvSpPr>
          <p:nvPr/>
        </p:nvSpPr>
        <p:spPr>
          <a:xfrm>
            <a:off x="1371600" y="2720340"/>
            <a:ext cx="4171950" cy="415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Pegatron O-RU and PDU Outlet 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03CA40-5C0A-4B03-97A5-BC7FD9B6D296}"/>
              </a:ext>
            </a:extLst>
          </p:cNvPr>
          <p:cNvSpPr>
            <a:spLocks noGrp="1"/>
          </p:cNvSpPr>
          <p:nvPr/>
        </p:nvSpPr>
        <p:spPr>
          <a:xfrm rot="2700000">
            <a:off x="1104900" y="335280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3" name="control-fixed-3">
            <a:extLst>
              <a:ext uri="{FF2B5EF4-FFF2-40B4-BE49-F238E27FC236}">
                <a16:creationId xmlns:a16="http://schemas.microsoft.com/office/drawing/2014/main" id="{8C908AD8-E52B-431C-B423-7800C7540A2C}"/>
              </a:ext>
            </a:extLst>
          </p:cNvPr>
          <p:cNvSpPr>
            <a:spLocks noGrp="1"/>
          </p:cNvSpPr>
          <p:nvPr/>
        </p:nvSpPr>
        <p:spPr>
          <a:xfrm>
            <a:off x="1371600" y="3211830"/>
            <a:ext cx="4171950" cy="415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PNF runtime, core, and namespace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785A0B-0E2B-4AD2-B2C5-6571DF553FE7}"/>
              </a:ext>
            </a:extLst>
          </p:cNvPr>
          <p:cNvSpPr>
            <a:spLocks noGrp="1"/>
          </p:cNvSpPr>
          <p:nvPr/>
        </p:nvSpPr>
        <p:spPr>
          <a:xfrm rot="2700000">
            <a:off x="1104900" y="384429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5" name="control-fixed-4">
            <a:extLst>
              <a:ext uri="{FF2B5EF4-FFF2-40B4-BE49-F238E27FC236}">
                <a16:creationId xmlns:a16="http://schemas.microsoft.com/office/drawing/2014/main" id="{871A8B86-D121-458F-B314-5029131A5A37}"/>
              </a:ext>
            </a:extLst>
          </p:cNvPr>
          <p:cNvSpPr>
            <a:spLocks noGrp="1"/>
          </p:cNvSpPr>
          <p:nvPr/>
        </p:nvSpPr>
        <p:spPr>
          <a:xfrm>
            <a:off x="1371600" y="3703320"/>
            <a:ext cx="4171950" cy="415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900 Mbps downlink offered load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CE1B49-A539-4005-AFA3-DD8A0118721C}"/>
              </a:ext>
            </a:extLst>
          </p:cNvPr>
          <p:cNvSpPr>
            <a:spLocks noGrp="1"/>
          </p:cNvSpPr>
          <p:nvPr/>
        </p:nvSpPr>
        <p:spPr>
          <a:xfrm rot="2700000">
            <a:off x="1104900" y="433578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7" name="control-fixed-5">
            <a:extLst>
              <a:ext uri="{FF2B5EF4-FFF2-40B4-BE49-F238E27FC236}">
                <a16:creationId xmlns:a16="http://schemas.microsoft.com/office/drawing/2014/main" id="{A27F7D8E-2BF3-47C7-9B39-75C5DF967B63}"/>
              </a:ext>
            </a:extLst>
          </p:cNvPr>
          <p:cNvSpPr>
            <a:spLocks noGrp="1"/>
          </p:cNvSpPr>
          <p:nvPr/>
        </p:nvSpPr>
        <p:spPr>
          <a:xfrm>
            <a:off x="1371600" y="4194810"/>
            <a:ext cx="4171950" cy="4152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Timestamp-alignment method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1744A9-6135-46F7-9C30-A897F8739A2E}"/>
              </a:ext>
            </a:extLst>
          </p:cNvPr>
          <p:cNvSpPr>
            <a:spLocks noGrp="1"/>
          </p:cNvSpPr>
          <p:nvPr/>
        </p:nvSpPr>
        <p:spPr>
          <a:xfrm rot="2700000">
            <a:off x="7181850" y="2424113"/>
            <a:ext cx="114300" cy="1143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9" name="control-varied-1">
            <a:extLst>
              <a:ext uri="{FF2B5EF4-FFF2-40B4-BE49-F238E27FC236}">
                <a16:creationId xmlns:a16="http://schemas.microsoft.com/office/drawing/2014/main" id="{7A8D5729-DAFB-4701-A3B3-245D85B48B1B}"/>
              </a:ext>
            </a:extLst>
          </p:cNvPr>
          <p:cNvSpPr>
            <a:spLocks noGrp="1"/>
          </p:cNvSpPr>
          <p:nvPr/>
        </p:nvSpPr>
        <p:spPr>
          <a:xfrm>
            <a:off x="7448550" y="2228850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486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VNF condition: 27 / 54 / 104 PRB or OAI latest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E269D79-558C-43C5-B04C-BD67EC724526}"/>
              </a:ext>
            </a:extLst>
          </p:cNvPr>
          <p:cNvSpPr>
            <a:spLocks noGrp="1"/>
          </p:cNvSpPr>
          <p:nvPr/>
        </p:nvSpPr>
        <p:spPr>
          <a:xfrm rot="2700000">
            <a:off x="7181850" y="3043238"/>
            <a:ext cx="114300" cy="1143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1" name="control-varied-2">
            <a:extLst>
              <a:ext uri="{FF2B5EF4-FFF2-40B4-BE49-F238E27FC236}">
                <a16:creationId xmlns:a16="http://schemas.microsoft.com/office/drawing/2014/main" id="{A383A900-7930-4247-8EF9-C027F9AEDDC1}"/>
              </a:ext>
            </a:extLst>
          </p:cNvPr>
          <p:cNvSpPr>
            <a:spLocks noGrp="1"/>
          </p:cNvSpPr>
          <p:nvPr/>
        </p:nvSpPr>
        <p:spPr>
          <a:xfrm>
            <a:off x="7448550" y="2847975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VNF image lineage differs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56119DA-36D6-432F-AAE7-6D7CFEA826EF}"/>
              </a:ext>
            </a:extLst>
          </p:cNvPr>
          <p:cNvSpPr>
            <a:spLocks noGrp="1"/>
          </p:cNvSpPr>
          <p:nvPr/>
        </p:nvSpPr>
        <p:spPr>
          <a:xfrm rot="2700000">
            <a:off x="7181850" y="3662363"/>
            <a:ext cx="114300" cy="1143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3" name="control-varied-3">
            <a:extLst>
              <a:ext uri="{FF2B5EF4-FFF2-40B4-BE49-F238E27FC236}">
                <a16:creationId xmlns:a16="http://schemas.microsoft.com/office/drawing/2014/main" id="{C73E7792-4C9D-4080-9B47-42B7493C648E}"/>
              </a:ext>
            </a:extLst>
          </p:cNvPr>
          <p:cNvSpPr>
            <a:spLocks noGrp="1"/>
          </p:cNvSpPr>
          <p:nvPr/>
        </p:nvSpPr>
        <p:spPr>
          <a:xfrm>
            <a:off x="7448550" y="3467100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Sequential run order and lab time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74DDF1-9C77-4E0A-9512-7017D1F10AC3}"/>
              </a:ext>
            </a:extLst>
          </p:cNvPr>
          <p:cNvSpPr>
            <a:spLocks noGrp="1"/>
          </p:cNvSpPr>
          <p:nvPr/>
        </p:nvSpPr>
        <p:spPr>
          <a:xfrm rot="2700000">
            <a:off x="7181850" y="4281488"/>
            <a:ext cx="114300" cy="1143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5" name="control-varied-4">
            <a:extLst>
              <a:ext uri="{FF2B5EF4-FFF2-40B4-BE49-F238E27FC236}">
                <a16:creationId xmlns:a16="http://schemas.microsoft.com/office/drawing/2014/main" id="{B3ED77F9-619E-4756-A124-88ACF0485C1D}"/>
              </a:ext>
            </a:extLst>
          </p:cNvPr>
          <p:cNvSpPr>
            <a:spLocks noGrp="1"/>
          </p:cNvSpPr>
          <p:nvPr/>
        </p:nvSpPr>
        <p:spPr>
          <a:xfrm>
            <a:off x="7448550" y="4086225"/>
            <a:ext cx="38290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5486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One run per condition</a:t>
            </a:r>
            <a:r>
              <a:rPr lang="en-US"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,</a:t>
            </a:r>
            <a:r>
              <a:rPr sz="180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 no confidence intervals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58EC8DD-83C7-4477-9532-1FBF1E8294BE}"/>
              </a:ext>
            </a:extLst>
          </p:cNvPr>
          <p:cNvSpPr>
            <a:spLocks noGrp="1"/>
          </p:cNvSpPr>
          <p:nvPr/>
        </p:nvSpPr>
        <p:spPr>
          <a:xfrm>
            <a:off x="1104900" y="4876800"/>
            <a:ext cx="10172700" cy="514350"/>
          </a:xfrm>
          <a:prstGeom prst="roundRect">
            <a:avLst>
              <a:gd name="adj" fmla="val 14815"/>
            </a:avLst>
          </a:prstGeom>
          <a:solidFill>
            <a:srgbClr val="EEF3FF"/>
          </a:solidFill>
          <a:ln w="12383">
            <a:solidFill>
              <a:srgbClr val="6594F4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708D62F-AD96-48FC-882C-B5CD394C3A0A}"/>
              </a:ext>
            </a:extLst>
          </p:cNvPr>
          <p:cNvSpPr>
            <a:spLocks noGrp="1"/>
          </p:cNvSpPr>
          <p:nvPr/>
        </p:nvSpPr>
        <p:spPr>
          <a:xfrm>
            <a:off x="1314450" y="4953000"/>
            <a:ext cx="9753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Run completion: 27 PRB 93.25%  |  54 PRB 82.00%  |  104 PRB 93.08%  |  OAI latest 93.00%</a:t>
            </a:r>
          </a:p>
        </p:txBody>
      </p:sp>
    </p:spTree>
    <p:extLst>
      <p:ext uri="{BB962C8B-B14F-4D97-AF65-F5344CB8AC3E}">
        <p14:creationId xmlns:p14="http://schemas.microsoft.com/office/powerpoint/2010/main" val="643884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EC80CB2-FD6A-4BB3-8343-D5DEFFB44C70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465F2F2B-58BF-4445-8218-55A94EB5286B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64E7BBD2-C3B7-4276-8DD5-46EC2737B966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6C1DB8-60C7-4000-8DEB-657FCC177611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5B7E30-B769-4E09-A696-89EF54B8F913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11">
            <a:extLst>
              <a:ext uri="{FF2B5EF4-FFF2-40B4-BE49-F238E27FC236}">
                <a16:creationId xmlns:a16="http://schemas.microsoft.com/office/drawing/2014/main" id="{4737D31D-7788-46BB-9412-5BABAEBEFA84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7" name="slide-number-11">
            <a:extLst>
              <a:ext uri="{FF2B5EF4-FFF2-40B4-BE49-F238E27FC236}">
                <a16:creationId xmlns:a16="http://schemas.microsoft.com/office/drawing/2014/main" id="{E45E77F6-C8E7-4E48-8B2A-4132404D57A8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3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11">
            <a:extLst>
              <a:ext uri="{FF2B5EF4-FFF2-40B4-BE49-F238E27FC236}">
                <a16:creationId xmlns:a16="http://schemas.microsoft.com/office/drawing/2014/main" id="{1BCA616F-1F4F-4579-9EAD-C0375AB1D963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Run </a:t>
            </a: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Completeness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A3EDD6-2610-4BFD-8BBF-DC08B3A1EFF7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60F0B-9146-49B4-829C-A316A3019499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7A5E7B-250C-437F-B597-A034179E5FFA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2667000" cy="285750"/>
          </a:xfrm>
          <a:prstGeom prst="roundRect">
            <a:avLst>
              <a:gd name="adj" fmla="val 26667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9CCCB7-5624-4304-B503-AB05232DB004}"/>
              </a:ext>
            </a:extLst>
          </p:cNvPr>
          <p:cNvSpPr>
            <a:spLocks noGrp="1"/>
          </p:cNvSpPr>
          <p:nvPr/>
        </p:nvSpPr>
        <p:spPr>
          <a:xfrm>
            <a:off x="514350" y="64008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- NOT IN TIMED FLOW</a:t>
            </a:r>
          </a:p>
        </p:txBody>
      </p:sp>
      <p:graphicFrame>
        <p:nvGraphicFramePr>
          <p:cNvPr id="34" name="Chart"/>
          <p:cNvGraphicFramePr/>
          <p:nvPr>
            <p:extLst>
              <p:ext uri="{D42A27DB-BD31-4B8C-83A1-F6EECF244321}">
                <p14:modId xmlns:p14="http://schemas.microsoft.com/office/powerpoint/2010/main" val="2418169267"/>
              </p:ext>
            </p:extLst>
          </p:nvPr>
        </p:nvGraphicFramePr>
        <p:xfrm>
          <a:off x="514350" y="1657350"/>
          <a:ext cx="7905750" cy="46758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6ACF17-6266-4654-82F0-08773179E6A5}"/>
              </a:ext>
            </a:extLst>
          </p:cNvPr>
          <p:cNvSpPr>
            <a:spLocks noGrp="1"/>
          </p:cNvSpPr>
          <p:nvPr/>
        </p:nvSpPr>
        <p:spPr>
          <a:xfrm>
            <a:off x="8572500" y="1924050"/>
            <a:ext cx="2876550" cy="1314450"/>
          </a:xfrm>
          <a:prstGeom prst="roundRect">
            <a:avLst>
              <a:gd name="adj" fmla="val 5797"/>
            </a:avLst>
          </a:prstGeom>
          <a:solidFill>
            <a:srgbClr val="F7F9FF"/>
          </a:solidFill>
          <a:ln w="14288">
            <a:solidFill>
              <a:srgbClr val="A7BE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918BE2-E57C-4598-BC68-3D636D8E7CDA}"/>
              </a:ext>
            </a:extLst>
          </p:cNvPr>
          <p:cNvSpPr>
            <a:spLocks noGrp="1"/>
          </p:cNvSpPr>
          <p:nvPr/>
        </p:nvSpPr>
        <p:spPr>
          <a:xfrm>
            <a:off x="8743950" y="2095500"/>
            <a:ext cx="66675" cy="97155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21A635F-D775-40ED-9062-6434F858E856}"/>
              </a:ext>
            </a:extLst>
          </p:cNvPr>
          <p:cNvSpPr>
            <a:spLocks noGrp="1"/>
          </p:cNvSpPr>
          <p:nvPr/>
        </p:nvSpPr>
        <p:spPr>
          <a:xfrm>
            <a:off x="8972550" y="203835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Complete points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499651-2E9A-47C4-B2CA-4DF02280801A}"/>
              </a:ext>
            </a:extLst>
          </p:cNvPr>
          <p:cNvSpPr>
            <a:spLocks noGrp="1"/>
          </p:cNvSpPr>
          <p:nvPr/>
        </p:nvSpPr>
        <p:spPr>
          <a:xfrm>
            <a:off x="8972550" y="2381250"/>
            <a:ext cx="2324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100, 200, 400, and 500 Mbps enter the initial fit.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CCACC2-27EA-410B-AFB3-0FC7E8EDA53E}"/>
              </a:ext>
            </a:extLst>
          </p:cNvPr>
          <p:cNvSpPr>
            <a:spLocks noGrp="1"/>
          </p:cNvSpPr>
          <p:nvPr/>
        </p:nvSpPr>
        <p:spPr>
          <a:xfrm>
            <a:off x="8572500" y="3505200"/>
            <a:ext cx="2876550" cy="1524000"/>
          </a:xfrm>
          <a:prstGeom prst="roundRect">
            <a:avLst>
              <a:gd name="adj" fmla="val 5000"/>
            </a:avLst>
          </a:prstGeom>
          <a:solidFill>
            <a:srgbClr val="FFF4DD"/>
          </a:solidFill>
          <a:ln w="14288">
            <a:solidFill>
              <a:srgbClr val="F5C66D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1DC60D1-2150-4145-9DC7-6DB0837F7C68}"/>
              </a:ext>
            </a:extLst>
          </p:cNvPr>
          <p:cNvSpPr>
            <a:spLocks noGrp="1"/>
          </p:cNvSpPr>
          <p:nvPr/>
        </p:nvSpPr>
        <p:spPr>
          <a:xfrm>
            <a:off x="8743950" y="3676650"/>
            <a:ext cx="66675" cy="11811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C9173E-2DEC-4597-99B8-254FB1038A24}"/>
              </a:ext>
            </a:extLst>
          </p:cNvPr>
          <p:cNvSpPr>
            <a:spLocks noGrp="1"/>
          </p:cNvSpPr>
          <p:nvPr/>
        </p:nvSpPr>
        <p:spPr>
          <a:xfrm>
            <a:off x="8972550" y="3619500"/>
            <a:ext cx="2324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7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Diagnostic only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B90EC3-C654-40C0-BD9D-8DB3BE3FEE94}"/>
              </a:ext>
            </a:extLst>
          </p:cNvPr>
          <p:cNvSpPr>
            <a:spLocks noGrp="1"/>
          </p:cNvSpPr>
          <p:nvPr/>
        </p:nvSpPr>
        <p:spPr>
          <a:xfrm>
            <a:off x="8972550" y="3962400"/>
            <a:ext cx="23241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952"/>
          </a:bodyPr>
          <a:lstStyle/>
          <a:p>
            <a:pPr algn="l">
              <a:lnSpc>
                <a:spcPct val="100000"/>
              </a:lnSpc>
              <a:buNone/>
              <a:defRPr sz="165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lang="en-US" sz="1650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300 and 600 Mbps are not complete, so they aren’t equal in </a:t>
            </a:r>
            <a:r>
              <a:rPr lang="en-US" sz="165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credibility</a:t>
            </a:r>
            <a:endParaRPr sz="1650" b="0" i="0" dirty="0">
              <a:solidFill>
                <a:srgbClr val="11152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6282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C4375FB5-1F9E-46D7-9EDE-E5723837D307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A3747000-669E-4ED3-85B9-3CC3B86C6586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8A378AB9-69FB-44C2-B518-7896211C9E47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0D9C89-48F7-45C7-BBA5-EDBE0FE057BC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14A8F1-0553-400C-8C78-E95EEDA39993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12">
            <a:extLst>
              <a:ext uri="{FF2B5EF4-FFF2-40B4-BE49-F238E27FC236}">
                <a16:creationId xmlns:a16="http://schemas.microsoft.com/office/drawing/2014/main" id="{F3C7B8D0-6A45-4689-BC48-41E85A74B6BF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7" name="slide-number-12">
            <a:extLst>
              <a:ext uri="{FF2B5EF4-FFF2-40B4-BE49-F238E27FC236}">
                <a16:creationId xmlns:a16="http://schemas.microsoft.com/office/drawing/2014/main" id="{596B7215-BC8F-4281-B399-9DF1C7F7FF39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4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12">
            <a:extLst>
              <a:ext uri="{FF2B5EF4-FFF2-40B4-BE49-F238E27FC236}">
                <a16:creationId xmlns:a16="http://schemas.microsoft.com/office/drawing/2014/main" id="{5A11690E-9023-416A-9A11-DC0BD007DF7D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Failure </a:t>
            </a:r>
            <a:r>
              <a:rPr lang="en-US" sz="3600" b="1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C</a:t>
            </a: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hronology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A005C7-8C99-422A-B74A-8808BBD83013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8E7BB9-9627-4F31-8EDF-48FC69A53940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4A2A414-2E9D-4BFB-A841-60E31EBB7DA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oundRect">
            <a:avLst>
              <a:gd name="adj" fmla="val 26667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30104-E51E-451F-BF7C-2C0F74E466C3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- NOT IN TIMED FLOW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0A01CA-F282-4629-BD77-59E564B29298}"/>
              </a:ext>
            </a:extLst>
          </p:cNvPr>
          <p:cNvSpPr>
            <a:spLocks noGrp="1"/>
          </p:cNvSpPr>
          <p:nvPr/>
        </p:nvSpPr>
        <p:spPr>
          <a:xfrm>
            <a:off x="1352550" y="3143250"/>
            <a:ext cx="9467850" cy="57150"/>
          </a:xfrm>
          <a:prstGeom prst="rect">
            <a:avLst/>
          </a:prstGeom>
          <a:solidFill>
            <a:srgbClr val="A7BEFF"/>
          </a:solidFill>
          <a:ln w="0">
            <a:noFill/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A8337B-CCF8-4B07-A5CB-2E6E1DC4FE74}"/>
              </a:ext>
            </a:extLst>
          </p:cNvPr>
          <p:cNvSpPr>
            <a:spLocks noGrp="1"/>
          </p:cNvSpPr>
          <p:nvPr/>
        </p:nvSpPr>
        <p:spPr>
          <a:xfrm>
            <a:off x="1504950" y="2876550"/>
            <a:ext cx="590550" cy="590550"/>
          </a:xfrm>
          <a:prstGeom prst="ellipse">
            <a:avLst/>
          </a:prstGeom>
          <a:solidFill>
            <a:srgbClr val="0B0B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F96109-38F9-44E3-854B-96A1A006CB8F}"/>
              </a:ext>
            </a:extLst>
          </p:cNvPr>
          <p:cNvSpPr>
            <a:spLocks noGrp="1"/>
          </p:cNvSpPr>
          <p:nvPr/>
        </p:nvSpPr>
        <p:spPr>
          <a:xfrm>
            <a:off x="1504950" y="28765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C7DE38-2F36-4EBC-AB73-7E5B6516F80B}"/>
              </a:ext>
            </a:extLst>
          </p:cNvPr>
          <p:cNvSpPr>
            <a:spLocks noGrp="1"/>
          </p:cNvSpPr>
          <p:nvPr/>
        </p:nvSpPr>
        <p:spPr>
          <a:xfrm>
            <a:off x="819150" y="19240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Traffic flattens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D2FF14-A51C-4B58-94D4-45136DBD8CA0}"/>
              </a:ext>
            </a:extLst>
          </p:cNvPr>
          <p:cNvSpPr>
            <a:spLocks noGrp="1"/>
          </p:cNvSpPr>
          <p:nvPr/>
        </p:nvSpPr>
        <p:spPr>
          <a:xfrm>
            <a:off x="819150" y="3733800"/>
            <a:ext cx="19621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High-load iPerf stops progressing.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8D457A-D26D-4079-B985-25EAA19A0AA8}"/>
              </a:ext>
            </a:extLst>
          </p:cNvPr>
          <p:cNvSpPr>
            <a:spLocks noGrp="1"/>
          </p:cNvSpPr>
          <p:nvPr/>
        </p:nvSpPr>
        <p:spPr>
          <a:xfrm>
            <a:off x="3714750" y="2876550"/>
            <a:ext cx="590550" cy="590550"/>
          </a:xfrm>
          <a:prstGeom prst="ellipse">
            <a:avLst/>
          </a:prstGeom>
          <a:solidFill>
            <a:srgbClr val="0B0B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862C8D-75B5-4452-887F-639E2380E0E8}"/>
              </a:ext>
            </a:extLst>
          </p:cNvPr>
          <p:cNvSpPr>
            <a:spLocks noGrp="1"/>
          </p:cNvSpPr>
          <p:nvPr/>
        </p:nvSpPr>
        <p:spPr>
          <a:xfrm>
            <a:off x="3714750" y="28765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A57B09-8A69-4BD9-B48F-DDF4B2F028B4}"/>
              </a:ext>
            </a:extLst>
          </p:cNvPr>
          <p:cNvSpPr>
            <a:spLocks noGrp="1"/>
          </p:cNvSpPr>
          <p:nvPr/>
        </p:nvSpPr>
        <p:spPr>
          <a:xfrm>
            <a:off x="3028950" y="19240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Buffer pressure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EEDF76-0238-40CB-8B2D-2D90E3C7A09A}"/>
              </a:ext>
            </a:extLst>
          </p:cNvPr>
          <p:cNvSpPr>
            <a:spLocks noGrp="1"/>
          </p:cNvSpPr>
          <p:nvPr/>
        </p:nvSpPr>
        <p:spPr>
          <a:xfrm>
            <a:off x="3028950" y="3733800"/>
            <a:ext cx="19621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SDU rejected: buffer full appears.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3ECF1C2-FF81-44CF-AE90-50FBA902835B}"/>
              </a:ext>
            </a:extLst>
          </p:cNvPr>
          <p:cNvSpPr>
            <a:spLocks noGrp="1"/>
          </p:cNvSpPr>
          <p:nvPr/>
        </p:nvSpPr>
        <p:spPr>
          <a:xfrm>
            <a:off x="5924550" y="2876550"/>
            <a:ext cx="590550" cy="590550"/>
          </a:xfrm>
          <a:prstGeom prst="ellipse">
            <a:avLst/>
          </a:prstGeom>
          <a:solidFill>
            <a:srgbClr val="0B0B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CBA8F1-CA65-451E-B325-BFFA90E34995}"/>
              </a:ext>
            </a:extLst>
          </p:cNvPr>
          <p:cNvSpPr>
            <a:spLocks noGrp="1"/>
          </p:cNvSpPr>
          <p:nvPr/>
        </p:nvSpPr>
        <p:spPr>
          <a:xfrm>
            <a:off x="5924550" y="28765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2884B5-C912-4B84-8713-63CD995557D7}"/>
              </a:ext>
            </a:extLst>
          </p:cNvPr>
          <p:cNvSpPr>
            <a:spLocks noGrp="1"/>
          </p:cNvSpPr>
          <p:nvPr/>
        </p:nvSpPr>
        <p:spPr>
          <a:xfrm>
            <a:off x="5238750" y="19240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Radio path stalls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BF994A4-676C-4C80-889B-27C08047EFDD}"/>
              </a:ext>
            </a:extLst>
          </p:cNvPr>
          <p:cNvSpPr>
            <a:spLocks noGrp="1"/>
          </p:cNvSpPr>
          <p:nvPr/>
        </p:nvSpPr>
        <p:spPr>
          <a:xfrm>
            <a:off x="5238750" y="3733800"/>
            <a:ext cx="19621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VNF / split path ceases forward progress.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11FCEA-0E1B-4786-A3ED-CBB04B9ABEED}"/>
              </a:ext>
            </a:extLst>
          </p:cNvPr>
          <p:cNvSpPr>
            <a:spLocks noGrp="1"/>
          </p:cNvSpPr>
          <p:nvPr/>
        </p:nvSpPr>
        <p:spPr>
          <a:xfrm>
            <a:off x="8134350" y="2876550"/>
            <a:ext cx="590550" cy="590550"/>
          </a:xfrm>
          <a:prstGeom prst="ellipse">
            <a:avLst/>
          </a:prstGeom>
          <a:solidFill>
            <a:srgbClr val="0B0B67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7E3835-5434-4891-A5C0-D1574B482AED}"/>
              </a:ext>
            </a:extLst>
          </p:cNvPr>
          <p:cNvSpPr>
            <a:spLocks noGrp="1"/>
          </p:cNvSpPr>
          <p:nvPr/>
        </p:nvSpPr>
        <p:spPr>
          <a:xfrm>
            <a:off x="8134350" y="28765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4596930-D5A2-4CB1-B693-48A9E009917C}"/>
              </a:ext>
            </a:extLst>
          </p:cNvPr>
          <p:cNvSpPr>
            <a:spLocks noGrp="1"/>
          </p:cNvSpPr>
          <p:nvPr/>
        </p:nvSpPr>
        <p:spPr>
          <a:xfrm>
            <a:off x="7448550" y="19240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RRC recovery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E54D06-3555-4427-A99E-2A1CD05F8327}"/>
              </a:ext>
            </a:extLst>
          </p:cNvPr>
          <p:cNvSpPr>
            <a:spLocks noGrp="1"/>
          </p:cNvSpPr>
          <p:nvPr/>
        </p:nvSpPr>
        <p:spPr>
          <a:xfrm>
            <a:off x="7448550" y="3733800"/>
            <a:ext cx="19621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Re-establishment requests: Other Failure.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004C078-1920-4C8E-A502-47C06D266D2F}"/>
              </a:ext>
            </a:extLst>
          </p:cNvPr>
          <p:cNvSpPr>
            <a:spLocks noGrp="1"/>
          </p:cNvSpPr>
          <p:nvPr/>
        </p:nvSpPr>
        <p:spPr>
          <a:xfrm>
            <a:off x="10344150" y="2876550"/>
            <a:ext cx="590550" cy="590550"/>
          </a:xfrm>
          <a:prstGeom prst="ellipse">
            <a:avLst/>
          </a:prstGeom>
          <a:solidFill>
            <a:srgbClr val="C44545"/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B70E59-4487-49B5-B3FA-210409B63632}"/>
              </a:ext>
            </a:extLst>
          </p:cNvPr>
          <p:cNvSpPr>
            <a:spLocks noGrp="1"/>
          </p:cNvSpPr>
          <p:nvPr/>
        </p:nvSpPr>
        <p:spPr>
          <a:xfrm>
            <a:off x="10344150" y="2876550"/>
            <a:ext cx="590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8A3D2C-438D-4930-A4A5-59617C50EFD5}"/>
              </a:ext>
            </a:extLst>
          </p:cNvPr>
          <p:cNvSpPr>
            <a:spLocks noGrp="1"/>
          </p:cNvSpPr>
          <p:nvPr/>
        </p:nvSpPr>
        <p:spPr>
          <a:xfrm>
            <a:off x="9658350" y="19240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Run stopped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289DA5-FCEF-4676-8A17-5832AA4E22BB}"/>
              </a:ext>
            </a:extLst>
          </p:cNvPr>
          <p:cNvSpPr>
            <a:spLocks noGrp="1"/>
          </p:cNvSpPr>
          <p:nvPr/>
        </p:nvSpPr>
        <p:spPr>
          <a:xfrm>
            <a:off x="9658350" y="3733800"/>
            <a:ext cx="1962150" cy="1028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7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Evidence preserved; next load run individually.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4102760-46EA-494F-A39E-B3DD9AAE7CD8}"/>
              </a:ext>
            </a:extLst>
          </p:cNvPr>
          <p:cNvSpPr>
            <a:spLocks noGrp="1"/>
          </p:cNvSpPr>
          <p:nvPr/>
        </p:nvSpPr>
        <p:spPr>
          <a:xfrm>
            <a:off x="1714500" y="5219700"/>
            <a:ext cx="8763000" cy="590550"/>
          </a:xfrm>
          <a:prstGeom prst="roundRect">
            <a:avLst>
              <a:gd name="adj" fmla="val 12903"/>
            </a:avLst>
          </a:prstGeom>
          <a:solidFill>
            <a:srgbClr val="EEF3FF"/>
          </a:solidFill>
          <a:ln w="11430">
            <a:solidFill>
              <a:srgbClr val="6594F4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4389A33-A503-42E6-B0E5-4CD50546F37D}"/>
              </a:ext>
            </a:extLst>
          </p:cNvPr>
          <p:cNvSpPr>
            <a:spLocks noGrp="1"/>
          </p:cNvSpPr>
          <p:nvPr/>
        </p:nvSpPr>
        <p:spPr>
          <a:xfrm>
            <a:off x="1981200" y="5334000"/>
            <a:ext cx="822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7815"/>
          </a:bodyPr>
          <a:lstStyle/>
          <a:p>
            <a:pPr algn="ctr">
              <a:lnSpc>
                <a:spcPct val="100000"/>
              </a:lnSpc>
              <a:buNone/>
              <a:defRPr sz="172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725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Consistent with backpressure and timing instability</a:t>
            </a:r>
          </a:p>
        </p:txBody>
      </p:sp>
    </p:spTree>
    <p:extLst>
      <p:ext uri="{BB962C8B-B14F-4D97-AF65-F5344CB8AC3E}">
        <p14:creationId xmlns:p14="http://schemas.microsoft.com/office/powerpoint/2010/main" val="623666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09808AC9-7C7F-45F7-8B2C-97D6387B8DFB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02C8AE2F-5B2F-4F84-95AD-43ADE878AF14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13F9F00D-A3CD-4686-9847-B3217BB859F2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9B8808-56AE-458F-9599-E99A8F7F3B0C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DC7F8E-7D55-44A2-A99A-8C39C359032E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13">
            <a:extLst>
              <a:ext uri="{FF2B5EF4-FFF2-40B4-BE49-F238E27FC236}">
                <a16:creationId xmlns:a16="http://schemas.microsoft.com/office/drawing/2014/main" id="{E604B2F5-8741-46BB-A1B0-D94CBC5E5A0C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7" name="slide-number-13">
            <a:extLst>
              <a:ext uri="{FF2B5EF4-FFF2-40B4-BE49-F238E27FC236}">
                <a16:creationId xmlns:a16="http://schemas.microsoft.com/office/drawing/2014/main" id="{3C07CCF2-BCA8-443A-BE4F-3435C0C6F34D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5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13">
            <a:extLst>
              <a:ext uri="{FF2B5EF4-FFF2-40B4-BE49-F238E27FC236}">
                <a16:creationId xmlns:a16="http://schemas.microsoft.com/office/drawing/2014/main" id="{4B7E01D9-5C04-4139-A773-0A87CC5E264B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9205"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Merge power inside positive-traffic windows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1191A5-F67E-48EA-9D1E-5509559B12A1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667BE4-B90B-4BCB-AAAE-7FF38E60124E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C4D1B47-9913-436B-B6DE-F069C4205FB8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oundRect">
            <a:avLst>
              <a:gd name="adj" fmla="val 26667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1F6937-7325-4913-8758-C61A18CFC310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- NOT IN TIMED FLOW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093A05-CCA7-4386-A6B6-50460B073504}"/>
              </a:ext>
            </a:extLst>
          </p:cNvPr>
          <p:cNvSpPr>
            <a:spLocks noGrp="1"/>
          </p:cNvSpPr>
          <p:nvPr/>
        </p:nvSpPr>
        <p:spPr>
          <a:xfrm>
            <a:off x="847725" y="1934649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7F9FF"/>
          </a:solidFill>
          <a:ln w="13335">
            <a:solidFill>
              <a:srgbClr val="A7BEFF"/>
            </a:solidFill>
            <a:prstDash val="solid"/>
          </a:ln>
        </p:spPr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AC25C50-71E7-42AB-8011-21D13E9C75BF}"/>
              </a:ext>
            </a:extLst>
          </p:cNvPr>
          <p:cNvSpPr>
            <a:spLocks noGrp="1"/>
          </p:cNvSpPr>
          <p:nvPr/>
        </p:nvSpPr>
        <p:spPr>
          <a:xfrm>
            <a:off x="1514475" y="2125149"/>
            <a:ext cx="571500" cy="571500"/>
          </a:xfrm>
          <a:prstGeom prst="ellipse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AA3CE0-09A1-4D96-A8F4-34A65867DB96}"/>
              </a:ext>
            </a:extLst>
          </p:cNvPr>
          <p:cNvSpPr>
            <a:spLocks noGrp="1"/>
          </p:cNvSpPr>
          <p:nvPr/>
        </p:nvSpPr>
        <p:spPr>
          <a:xfrm>
            <a:off x="1514475" y="2125149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350E6E5-D1B9-47C7-89A0-1506B8B55D8C}"/>
              </a:ext>
            </a:extLst>
          </p:cNvPr>
          <p:cNvSpPr>
            <a:spLocks noGrp="1"/>
          </p:cNvSpPr>
          <p:nvPr/>
        </p:nvSpPr>
        <p:spPr>
          <a:xfrm>
            <a:off x="981075" y="2868099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341130-7EE6-471E-AEA7-D0051F964286}"/>
              </a:ext>
            </a:extLst>
          </p:cNvPr>
          <p:cNvSpPr>
            <a:spLocks noGrp="1"/>
          </p:cNvSpPr>
          <p:nvPr/>
        </p:nvSpPr>
        <p:spPr>
          <a:xfrm>
            <a:off x="1019175" y="3363399"/>
            <a:ext cx="15621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Record offered load and requested duration.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D1516F-FDEC-4264-8802-7CC7347ED29D}"/>
              </a:ext>
            </a:extLst>
          </p:cNvPr>
          <p:cNvSpPr>
            <a:spLocks noGrp="1"/>
          </p:cNvSpPr>
          <p:nvPr/>
        </p:nvSpPr>
        <p:spPr>
          <a:xfrm>
            <a:off x="2981325" y="1934649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7F9FF"/>
          </a:solidFill>
          <a:ln w="13335">
            <a:solidFill>
              <a:srgbClr val="A7BEFF"/>
            </a:solidFill>
            <a:prstDash val="solid"/>
          </a:ln>
        </p:spPr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90892BC-2A23-4542-9A3F-D6E2D637D2A1}"/>
              </a:ext>
            </a:extLst>
          </p:cNvPr>
          <p:cNvSpPr>
            <a:spLocks noGrp="1"/>
          </p:cNvSpPr>
          <p:nvPr/>
        </p:nvSpPr>
        <p:spPr>
          <a:xfrm>
            <a:off x="3648075" y="2125149"/>
            <a:ext cx="571500" cy="571500"/>
          </a:xfrm>
          <a:prstGeom prst="ellipse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DB5794-E4A4-4D66-AE4D-8B37D99C19BE}"/>
              </a:ext>
            </a:extLst>
          </p:cNvPr>
          <p:cNvSpPr>
            <a:spLocks noGrp="1"/>
          </p:cNvSpPr>
          <p:nvPr/>
        </p:nvSpPr>
        <p:spPr>
          <a:xfrm>
            <a:off x="3648075" y="2125149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74AE91D-DB3A-4922-BB80-F7E8AC57C4A2}"/>
              </a:ext>
            </a:extLst>
          </p:cNvPr>
          <p:cNvSpPr>
            <a:spLocks noGrp="1"/>
          </p:cNvSpPr>
          <p:nvPr/>
        </p:nvSpPr>
        <p:spPr>
          <a:xfrm>
            <a:off x="3114675" y="2868099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Traffic window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380600-D2BA-4514-A58A-46A10F0DB58F}"/>
              </a:ext>
            </a:extLst>
          </p:cNvPr>
          <p:cNvSpPr>
            <a:spLocks noGrp="1"/>
          </p:cNvSpPr>
          <p:nvPr/>
        </p:nvSpPr>
        <p:spPr>
          <a:xfrm>
            <a:off x="3152775" y="3363399"/>
            <a:ext cx="15621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Use finalized iPerf timestamps with positive throughput.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AE69328-39D9-4687-AEE8-7660B206ED81}"/>
              </a:ext>
            </a:extLst>
          </p:cNvPr>
          <p:cNvSpPr>
            <a:spLocks noGrp="1"/>
          </p:cNvSpPr>
          <p:nvPr/>
        </p:nvSpPr>
        <p:spPr>
          <a:xfrm>
            <a:off x="5114925" y="1934649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7F9FF"/>
          </a:solidFill>
          <a:ln w="13335">
            <a:solidFill>
              <a:srgbClr val="A7BEFF"/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A0898FD-BEB1-4626-93E1-0C9A4F0C1BCD}"/>
              </a:ext>
            </a:extLst>
          </p:cNvPr>
          <p:cNvSpPr>
            <a:spLocks noGrp="1"/>
          </p:cNvSpPr>
          <p:nvPr/>
        </p:nvSpPr>
        <p:spPr>
          <a:xfrm>
            <a:off x="5781675" y="2125149"/>
            <a:ext cx="571500" cy="571500"/>
          </a:xfrm>
          <a:prstGeom prst="ellipse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9D59ED-9E95-40D8-B304-4C0BAE949CB8}"/>
              </a:ext>
            </a:extLst>
          </p:cNvPr>
          <p:cNvSpPr>
            <a:spLocks noGrp="1"/>
          </p:cNvSpPr>
          <p:nvPr/>
        </p:nvSpPr>
        <p:spPr>
          <a:xfrm>
            <a:off x="5781675" y="2125149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E90BF14-9303-4CA6-B468-66F74E3944C4}"/>
              </a:ext>
            </a:extLst>
          </p:cNvPr>
          <p:cNvSpPr>
            <a:spLocks noGrp="1"/>
          </p:cNvSpPr>
          <p:nvPr/>
        </p:nvSpPr>
        <p:spPr>
          <a:xfrm>
            <a:off x="5248275" y="2868099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PDU export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D48783-6BD0-42A5-909F-5E20CF2BE067}"/>
              </a:ext>
            </a:extLst>
          </p:cNvPr>
          <p:cNvSpPr>
            <a:spLocks noGrp="1"/>
          </p:cNvSpPr>
          <p:nvPr/>
        </p:nvSpPr>
        <p:spPr>
          <a:xfrm>
            <a:off x="5286375" y="3363399"/>
            <a:ext cx="15621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Clip Outlet 2 active_power to the same UTC window.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D07CBE7-D515-4907-9546-F1BE2000C0F9}"/>
              </a:ext>
            </a:extLst>
          </p:cNvPr>
          <p:cNvSpPr>
            <a:spLocks noGrp="1"/>
          </p:cNvSpPr>
          <p:nvPr/>
        </p:nvSpPr>
        <p:spPr>
          <a:xfrm>
            <a:off x="7248525" y="1934649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7F9FF"/>
          </a:solidFill>
          <a:ln w="13335">
            <a:solidFill>
              <a:srgbClr val="A7BEFF"/>
            </a:solidFill>
            <a:prstDash val="solid"/>
          </a:ln>
        </p:spPr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9D3350B-1949-4AAD-9D96-8148D1F0BD40}"/>
              </a:ext>
            </a:extLst>
          </p:cNvPr>
          <p:cNvSpPr>
            <a:spLocks noGrp="1"/>
          </p:cNvSpPr>
          <p:nvPr/>
        </p:nvSpPr>
        <p:spPr>
          <a:xfrm>
            <a:off x="7915275" y="2125149"/>
            <a:ext cx="571500" cy="571500"/>
          </a:xfrm>
          <a:prstGeom prst="ellipse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E12D32-09CA-45D9-9F32-36EC06289CF0}"/>
              </a:ext>
            </a:extLst>
          </p:cNvPr>
          <p:cNvSpPr>
            <a:spLocks noGrp="1"/>
          </p:cNvSpPr>
          <p:nvPr/>
        </p:nvSpPr>
        <p:spPr>
          <a:xfrm>
            <a:off x="7915275" y="2125149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79CC328-1496-4E2D-A3A6-67E72AE3BD86}"/>
              </a:ext>
            </a:extLst>
          </p:cNvPr>
          <p:cNvSpPr>
            <a:spLocks noGrp="1"/>
          </p:cNvSpPr>
          <p:nvPr/>
        </p:nvSpPr>
        <p:spPr>
          <a:xfrm>
            <a:off x="7381875" y="2868099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Merge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F3FDB5-E7D4-457B-B401-0745584AC9A6}"/>
              </a:ext>
            </a:extLst>
          </p:cNvPr>
          <p:cNvSpPr>
            <a:spLocks noGrp="1"/>
          </p:cNvSpPr>
          <p:nvPr/>
        </p:nvSpPr>
        <p:spPr>
          <a:xfrm>
            <a:off x="7419975" y="3363399"/>
            <a:ext cx="15621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Join throughput and power on one clock.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5F56965-1EA6-4462-86C9-7B05EDECAB91}"/>
              </a:ext>
            </a:extLst>
          </p:cNvPr>
          <p:cNvSpPr>
            <a:spLocks noGrp="1"/>
          </p:cNvSpPr>
          <p:nvPr/>
        </p:nvSpPr>
        <p:spPr>
          <a:xfrm>
            <a:off x="9382125" y="1934649"/>
            <a:ext cx="1905000" cy="2476500"/>
          </a:xfrm>
          <a:prstGeom prst="roundRect">
            <a:avLst>
              <a:gd name="adj" fmla="val 4000"/>
            </a:avLst>
          </a:prstGeom>
          <a:solidFill>
            <a:srgbClr val="F7F9FF"/>
          </a:solidFill>
          <a:ln w="13335">
            <a:solidFill>
              <a:srgbClr val="A7BEFF"/>
            </a:solidFill>
            <a:prstDash val="solid"/>
          </a:ln>
        </p:spPr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7C498B2-0169-438C-A2E4-4F07C8E29AB8}"/>
              </a:ext>
            </a:extLst>
          </p:cNvPr>
          <p:cNvSpPr>
            <a:spLocks noGrp="1"/>
          </p:cNvSpPr>
          <p:nvPr/>
        </p:nvSpPr>
        <p:spPr>
          <a:xfrm>
            <a:off x="10048875" y="2125149"/>
            <a:ext cx="571500" cy="571500"/>
          </a:xfrm>
          <a:prstGeom prst="ellipse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D657258-5790-4179-9FEC-9BF437B4260A}"/>
              </a:ext>
            </a:extLst>
          </p:cNvPr>
          <p:cNvSpPr>
            <a:spLocks noGrp="1"/>
          </p:cNvSpPr>
          <p:nvPr/>
        </p:nvSpPr>
        <p:spPr>
          <a:xfrm>
            <a:off x="10048875" y="2125149"/>
            <a:ext cx="571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3669429-6CC4-4B20-83D9-8EF6D65EB7BF}"/>
              </a:ext>
            </a:extLst>
          </p:cNvPr>
          <p:cNvSpPr>
            <a:spLocks noGrp="1"/>
          </p:cNvSpPr>
          <p:nvPr/>
        </p:nvSpPr>
        <p:spPr>
          <a:xfrm>
            <a:off x="9515475" y="2868099"/>
            <a:ext cx="1638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A85BD91-B612-47F4-B771-08EE36167F62}"/>
              </a:ext>
            </a:extLst>
          </p:cNvPr>
          <p:cNvSpPr>
            <a:spLocks noGrp="1"/>
          </p:cNvSpPr>
          <p:nvPr/>
        </p:nvSpPr>
        <p:spPr>
          <a:xfrm>
            <a:off x="9553575" y="3363399"/>
            <a:ext cx="15621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833"/>
          </a:bodyPr>
          <a:lstStyle/>
          <a:p>
            <a:pPr algn="ctr">
              <a:lnSpc>
                <a:spcPct val="100000"/>
              </a:lnSpc>
              <a:buNone/>
              <a:defRPr sz="15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Throughput, power, completion, and energy/bit together.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2A980E3-0055-435C-9183-AEB309D560CC}"/>
              </a:ext>
            </a:extLst>
          </p:cNvPr>
          <p:cNvSpPr>
            <a:spLocks noGrp="1"/>
          </p:cNvSpPr>
          <p:nvPr/>
        </p:nvSpPr>
        <p:spPr>
          <a:xfrm>
            <a:off x="1562100" y="4857750"/>
            <a:ext cx="9067800" cy="990600"/>
          </a:xfrm>
          <a:prstGeom prst="roundRect">
            <a:avLst>
              <a:gd name="adj" fmla="val 7692"/>
            </a:avLst>
          </a:prstGeom>
          <a:solidFill>
            <a:srgbClr val="FFF4DD"/>
          </a:solidFill>
          <a:ln w="14288">
            <a:solidFill>
              <a:srgbClr val="F5C66D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70C0F4-D66E-4399-9C8D-7639E363E4A1}"/>
              </a:ext>
            </a:extLst>
          </p:cNvPr>
          <p:cNvSpPr>
            <a:spLocks noGrp="1"/>
          </p:cNvSpPr>
          <p:nvPr/>
        </p:nvSpPr>
        <p:spPr>
          <a:xfrm>
            <a:off x="1733550" y="5029200"/>
            <a:ext cx="66675" cy="6477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59E4925-0848-466D-9B22-05EA51A9354C}"/>
              </a:ext>
            </a:extLst>
          </p:cNvPr>
          <p:cNvSpPr>
            <a:spLocks noGrp="1"/>
          </p:cNvSpPr>
          <p:nvPr/>
        </p:nvSpPr>
        <p:spPr>
          <a:xfrm>
            <a:off x="1962150" y="4972050"/>
            <a:ext cx="8515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Quality rule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36F9CC8-AD0E-4C78-849B-807C09B80D61}"/>
              </a:ext>
            </a:extLst>
          </p:cNvPr>
          <p:cNvSpPr>
            <a:spLocks noGrp="1"/>
          </p:cNvSpPr>
          <p:nvPr/>
        </p:nvSpPr>
        <p:spPr>
          <a:xfrm>
            <a:off x="1962150" y="5314950"/>
            <a:ext cx="8515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4902"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Incomplete runs stay visible and classified.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F0FA236-CDC6-C66E-F713-CC0720519D9E}"/>
              </a:ext>
            </a:extLst>
          </p:cNvPr>
          <p:cNvCxnSpPr>
            <a:stCxn id="17" idx="3"/>
            <a:endCxn id="22" idx="1"/>
          </p:cNvCxnSpPr>
          <p:nvPr/>
        </p:nvCxnSpPr>
        <p:spPr>
          <a:xfrm>
            <a:off x="2752725" y="3172899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635698F-4789-D747-F69B-51F334D45F8D}"/>
              </a:ext>
            </a:extLst>
          </p:cNvPr>
          <p:cNvCxnSpPr>
            <a:stCxn id="22" idx="3"/>
            <a:endCxn id="27" idx="1"/>
          </p:cNvCxnSpPr>
          <p:nvPr/>
        </p:nvCxnSpPr>
        <p:spPr>
          <a:xfrm>
            <a:off x="4886325" y="3172899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73DE1DB-1711-8F14-D1BC-C471A6BA994E}"/>
              </a:ext>
            </a:extLst>
          </p:cNvPr>
          <p:cNvCxnSpPr>
            <a:stCxn id="27" idx="3"/>
            <a:endCxn id="32" idx="1"/>
          </p:cNvCxnSpPr>
          <p:nvPr/>
        </p:nvCxnSpPr>
        <p:spPr>
          <a:xfrm>
            <a:off x="7019925" y="3172899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2D1FAA5-A08B-C79B-85A8-F98FED3533FB}"/>
              </a:ext>
            </a:extLst>
          </p:cNvPr>
          <p:cNvCxnSpPr>
            <a:stCxn id="32" idx="3"/>
            <a:endCxn id="37" idx="1"/>
          </p:cNvCxnSpPr>
          <p:nvPr/>
        </p:nvCxnSpPr>
        <p:spPr>
          <a:xfrm>
            <a:off x="9153525" y="3172899"/>
            <a:ext cx="228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45542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4B4ABDA-C7D3-4E5E-B90F-93C182A26F95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78DB0E7E-9217-41A9-AB3A-EF8558B36516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0BADB0F5-04D8-4326-A919-06584381BAAE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1CD90-F459-4F1E-ACB1-FD27C25E5952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D1D2BF-4100-4E4B-A199-FA3EF31BB2AF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14">
            <a:extLst>
              <a:ext uri="{FF2B5EF4-FFF2-40B4-BE49-F238E27FC236}">
                <a16:creationId xmlns:a16="http://schemas.microsoft.com/office/drawing/2014/main" id="{FED99F22-8A5B-4C67-B9DD-8CEDEC792B06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7" name="slide-number-14">
            <a:extLst>
              <a:ext uri="{FF2B5EF4-FFF2-40B4-BE49-F238E27FC236}">
                <a16:creationId xmlns:a16="http://schemas.microsoft.com/office/drawing/2014/main" id="{39B901B3-23E9-4E3E-AC40-0F43935E4797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6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14">
            <a:extLst>
              <a:ext uri="{FF2B5EF4-FFF2-40B4-BE49-F238E27FC236}">
                <a16:creationId xmlns:a16="http://schemas.microsoft.com/office/drawing/2014/main" id="{268B5E82-134C-4464-882A-D31DAD0A8C59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 fontScale="98607"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The checklist makes remaining work explicit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B205FD-1E94-4B23-AF90-DDE03876F29B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94C238-E409-4B33-92EA-B3A472B9846E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992A8C3-5D1A-4E86-9D63-40756F96C788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oundRect">
            <a:avLst>
              <a:gd name="adj" fmla="val 26667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8E62AA-3B1E-45A3-AFDC-0536C0CF570C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- NOT IN TIMED FLOW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5F4260-6BD8-4DD5-A5AC-1E2DA78818FB}"/>
              </a:ext>
            </a:extLst>
          </p:cNvPr>
          <p:cNvSpPr>
            <a:spLocks noGrp="1"/>
          </p:cNvSpPr>
          <p:nvPr/>
        </p:nvSpPr>
        <p:spPr>
          <a:xfrm>
            <a:off x="876300" y="1638300"/>
            <a:ext cx="4762500" cy="3714750"/>
          </a:xfrm>
          <a:prstGeom prst="roundRect">
            <a:avLst>
              <a:gd name="adj" fmla="val 2051"/>
            </a:avLst>
          </a:prstGeom>
          <a:solidFill>
            <a:srgbClr val="EAF6EF"/>
          </a:solidFill>
          <a:ln w="14288">
            <a:solidFill>
              <a:srgbClr val="B8DEC8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7FDFB8-90CA-434E-AAFD-80C7684DCBF6}"/>
              </a:ext>
            </a:extLst>
          </p:cNvPr>
          <p:cNvSpPr>
            <a:spLocks noGrp="1"/>
          </p:cNvSpPr>
          <p:nvPr/>
        </p:nvSpPr>
        <p:spPr>
          <a:xfrm>
            <a:off x="6553200" y="1638300"/>
            <a:ext cx="4762500" cy="3714750"/>
          </a:xfrm>
          <a:prstGeom prst="roundRect">
            <a:avLst>
              <a:gd name="adj" fmla="val 2051"/>
            </a:avLst>
          </a:prstGeom>
          <a:solidFill>
            <a:srgbClr val="FFF4DD"/>
          </a:solidFill>
          <a:ln w="14288">
            <a:solidFill>
              <a:srgbClr val="F5C66D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54EBAE-8DB2-4007-9DF5-9838A1A79E87}"/>
              </a:ext>
            </a:extLst>
          </p:cNvPr>
          <p:cNvSpPr>
            <a:spLocks noGrp="1"/>
          </p:cNvSpPr>
          <p:nvPr/>
        </p:nvSpPr>
        <p:spPr>
          <a:xfrm>
            <a:off x="1314450" y="1847850"/>
            <a:ext cx="3886200" cy="361950"/>
          </a:xfrm>
          <a:prstGeom prst="roundRect">
            <a:avLst>
              <a:gd name="adj" fmla="val 21053"/>
            </a:avLst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26E0E1-9CEF-415F-BBA1-F354DFB1765E}"/>
              </a:ext>
            </a:extLst>
          </p:cNvPr>
          <p:cNvSpPr>
            <a:spLocks noGrp="1"/>
          </p:cNvSpPr>
          <p:nvPr/>
        </p:nvSpPr>
        <p:spPr>
          <a:xfrm>
            <a:off x="1314450" y="1847850"/>
            <a:ext cx="3886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COMPLETED FOUNDATION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CD48573-22BB-414E-8BB7-46B7BA8EF3B7}"/>
              </a:ext>
            </a:extLst>
          </p:cNvPr>
          <p:cNvSpPr>
            <a:spLocks noGrp="1"/>
          </p:cNvSpPr>
          <p:nvPr/>
        </p:nvSpPr>
        <p:spPr>
          <a:xfrm>
            <a:off x="6991350" y="1847850"/>
            <a:ext cx="3886200" cy="361950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1F5043-C190-41F3-A4F0-B517D21D6455}"/>
              </a:ext>
            </a:extLst>
          </p:cNvPr>
          <p:cNvSpPr>
            <a:spLocks noGrp="1"/>
          </p:cNvSpPr>
          <p:nvPr/>
        </p:nvSpPr>
        <p:spPr>
          <a:xfrm>
            <a:off x="6991350" y="1847850"/>
            <a:ext cx="3886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SCIENTIFIC WORK REMAINING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4DBB848-E8CB-496B-949B-1DE7EE12F0D7}"/>
              </a:ext>
            </a:extLst>
          </p:cNvPr>
          <p:cNvSpPr>
            <a:spLocks noGrp="1"/>
          </p:cNvSpPr>
          <p:nvPr/>
        </p:nvSpPr>
        <p:spPr>
          <a:xfrm rot="2700000">
            <a:off x="1257300" y="264795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84F6A1-23CD-4E0F-8882-F0CB8E49D2DE}"/>
              </a:ext>
            </a:extLst>
          </p:cNvPr>
          <p:cNvSpPr>
            <a:spLocks noGrp="1"/>
          </p:cNvSpPr>
          <p:nvPr/>
        </p:nvSpPr>
        <p:spPr>
          <a:xfrm>
            <a:off x="1524000" y="24574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 lnSpcReduction="10000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Environment and run artifacts preserved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579DC04-2D7F-430B-94C3-AEB2F9B7E02A}"/>
              </a:ext>
            </a:extLst>
          </p:cNvPr>
          <p:cNvSpPr>
            <a:spLocks noGrp="1"/>
          </p:cNvSpPr>
          <p:nvPr/>
        </p:nvSpPr>
        <p:spPr>
          <a:xfrm rot="2700000">
            <a:off x="1257300" y="323850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8BBAB6-2A2F-4CB1-8B1C-B164BD619E86}"/>
              </a:ext>
            </a:extLst>
          </p:cNvPr>
          <p:cNvSpPr>
            <a:spLocks noGrp="1"/>
          </p:cNvSpPr>
          <p:nvPr/>
        </p:nvSpPr>
        <p:spPr>
          <a:xfrm>
            <a:off x="1524000" y="30480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VNF and PNF identities recorded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59C157-F056-4044-826D-D2216FADFFDD}"/>
              </a:ext>
            </a:extLst>
          </p:cNvPr>
          <p:cNvSpPr>
            <a:spLocks noGrp="1"/>
          </p:cNvSpPr>
          <p:nvPr/>
        </p:nvSpPr>
        <p:spPr>
          <a:xfrm rot="2700000">
            <a:off x="1257300" y="382905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3B5A61E-5986-446F-B73C-B325CCD85DAA}"/>
              </a:ext>
            </a:extLst>
          </p:cNvPr>
          <p:cNvSpPr>
            <a:spLocks noGrp="1"/>
          </p:cNvSpPr>
          <p:nvPr/>
        </p:nvSpPr>
        <p:spPr>
          <a:xfrm>
            <a:off x="1524000" y="36385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 lnSpcReduction="10000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Custom PRB caps validated with telemetry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8FF446-A92A-45D3-9F1F-7DF4936D7E2C}"/>
              </a:ext>
            </a:extLst>
          </p:cNvPr>
          <p:cNvSpPr>
            <a:spLocks noGrp="1"/>
          </p:cNvSpPr>
          <p:nvPr/>
        </p:nvSpPr>
        <p:spPr>
          <a:xfrm rot="2700000">
            <a:off x="1257300" y="4419600"/>
            <a:ext cx="114300" cy="114300"/>
          </a:xfrm>
          <a:prstGeom prst="rect">
            <a:avLst/>
          </a:prstGeom>
          <a:solidFill>
            <a:srgbClr val="3A8B63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683DD6C-9014-435C-971C-05C8A564AF7D}"/>
              </a:ext>
            </a:extLst>
          </p:cNvPr>
          <p:cNvSpPr>
            <a:spLocks noGrp="1"/>
          </p:cNvSpPr>
          <p:nvPr/>
        </p:nvSpPr>
        <p:spPr>
          <a:xfrm>
            <a:off x="1524000" y="42291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210" lnSpcReduction="10000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Initial baseline plot and descriptive fit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58CC30-8388-47E1-8ABB-921E394ADD1A}"/>
              </a:ext>
            </a:extLst>
          </p:cNvPr>
          <p:cNvSpPr>
            <a:spLocks noGrp="1"/>
          </p:cNvSpPr>
          <p:nvPr/>
        </p:nvSpPr>
        <p:spPr>
          <a:xfrm rot="2700000">
            <a:off x="6934200" y="2647950"/>
            <a:ext cx="114300" cy="1143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CDDE6E-E3A4-492B-8311-EF287F6A3918}"/>
              </a:ext>
            </a:extLst>
          </p:cNvPr>
          <p:cNvSpPr>
            <a:spLocks noGrp="1"/>
          </p:cNvSpPr>
          <p:nvPr/>
        </p:nvSpPr>
        <p:spPr>
          <a:xfrm>
            <a:off x="7200900" y="24574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Complete 700-900 Mbps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C45559-01B7-4EB0-89E1-B40E601BD38B}"/>
              </a:ext>
            </a:extLst>
          </p:cNvPr>
          <p:cNvSpPr>
            <a:spLocks noGrp="1"/>
          </p:cNvSpPr>
          <p:nvPr/>
        </p:nvSpPr>
        <p:spPr>
          <a:xfrm rot="2700000">
            <a:off x="6934200" y="3238500"/>
            <a:ext cx="114300" cy="1143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B9C6F12-829E-435F-8A80-C4CE3859CB55}"/>
              </a:ext>
            </a:extLst>
          </p:cNvPr>
          <p:cNvSpPr>
            <a:spLocks noGrp="1"/>
          </p:cNvSpPr>
          <p:nvPr/>
        </p:nvSpPr>
        <p:spPr>
          <a:xfrm>
            <a:off x="7200900" y="30480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Repeat loads and quantify variance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55E5A06-FA0B-4E25-8AF5-963D97628987}"/>
              </a:ext>
            </a:extLst>
          </p:cNvPr>
          <p:cNvSpPr>
            <a:spLocks noGrp="1"/>
          </p:cNvSpPr>
          <p:nvPr/>
        </p:nvSpPr>
        <p:spPr>
          <a:xfrm rot="2700000">
            <a:off x="6934200" y="3829050"/>
            <a:ext cx="114300" cy="1143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5774A9-812C-441A-9F8D-DBEA9D5F847D}"/>
              </a:ext>
            </a:extLst>
          </p:cNvPr>
          <p:cNvSpPr>
            <a:spLocks noGrp="1"/>
          </p:cNvSpPr>
          <p:nvPr/>
        </p:nvSpPr>
        <p:spPr>
          <a:xfrm>
            <a:off x="7200900" y="363855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 lnSpcReduction="10000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Common-source runtime-selectable modes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11651C-FDCD-49C4-8285-55903B3E7E18}"/>
              </a:ext>
            </a:extLst>
          </p:cNvPr>
          <p:cNvSpPr>
            <a:spLocks noGrp="1"/>
          </p:cNvSpPr>
          <p:nvPr/>
        </p:nvSpPr>
        <p:spPr>
          <a:xfrm rot="2700000">
            <a:off x="6934200" y="4419600"/>
            <a:ext cx="114300" cy="114300"/>
          </a:xfrm>
          <a:prstGeom prst="rect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8B2BD3-3A83-4B44-9B3F-908C34501B95}"/>
              </a:ext>
            </a:extLst>
          </p:cNvPr>
          <p:cNvSpPr>
            <a:spLocks noGrp="1"/>
          </p:cNvSpPr>
          <p:nvPr/>
        </p:nvSpPr>
        <p:spPr>
          <a:xfrm>
            <a:off x="7200900" y="4229100"/>
            <a:ext cx="3695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3750" lnSpcReduction="10000"/>
          </a:bodyPr>
          <a:lstStyle/>
          <a:p>
            <a:pPr algn="l">
              <a:lnSpc>
                <a:spcPct val="100000"/>
              </a:lnSpc>
              <a:buNone/>
              <a:defRPr sz="1800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Final model, dataset, report, and deck QA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8D70D1-F8D0-47C7-AF16-4E0E5F7CB496}"/>
              </a:ext>
            </a:extLst>
          </p:cNvPr>
          <p:cNvSpPr>
            <a:spLocks noGrp="1"/>
          </p:cNvSpPr>
          <p:nvPr/>
        </p:nvSpPr>
        <p:spPr>
          <a:xfrm>
            <a:off x="3924300" y="5600700"/>
            <a:ext cx="43434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75" b="1" i="0">
                <a:solidFill>
                  <a:srgbClr val="245FD6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5FD6"/>
                </a:solidFill>
                <a:latin typeface="Arial"/>
                <a:ea typeface="Arial"/>
                <a:cs typeface="Arial"/>
                <a:hlinkClick r:id="rId3"/>
              </a:rPr>
              <a:t>Open the maintained checklist</a:t>
            </a:r>
          </a:p>
        </p:txBody>
      </p:sp>
    </p:spTree>
    <p:extLst>
      <p:ext uri="{BB962C8B-B14F-4D97-AF65-F5344CB8AC3E}">
        <p14:creationId xmlns:p14="http://schemas.microsoft.com/office/powerpoint/2010/main" val="18521981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8DADF473-D786-49FA-AB31-3EFE2AF3BCF9}"/>
              </a:ext>
            </a:extLst>
          </p:cNvPr>
          <p:cNvSpPr>
            <a:spLocks noGrp="1"/>
          </p:cNvSpPr>
          <p:nvPr/>
        </p:nvSpPr>
        <p:spPr>
          <a:xfrm>
            <a:off x="57150" y="57150"/>
            <a:ext cx="12077700" cy="6743700"/>
          </a:xfrm>
          <a:prstGeom prst="rect">
            <a:avLst/>
          </a:prstGeom>
          <a:noFill/>
          <a:ln w="19050">
            <a:solidFill>
              <a:srgbClr val="6594F4"/>
            </a:solidFill>
            <a:prstDash val="solid"/>
          </a:ln>
        </p:spPr>
      </p:sp>
      <p:sp>
        <p:nvSpPr>
          <p:cNvPr id="2" name="Arrow: Chevron 1">
            <a:extLst>
              <a:ext uri="{FF2B5EF4-FFF2-40B4-BE49-F238E27FC236}">
                <a16:creationId xmlns:a16="http://schemas.microsoft.com/office/drawing/2014/main" id="{39EC0438-7BC7-453F-9E9F-79CA4C33CED1}"/>
              </a:ext>
            </a:extLst>
          </p:cNvPr>
          <p:cNvSpPr>
            <a:spLocks noGrp="1"/>
          </p:cNvSpPr>
          <p:nvPr/>
        </p:nvSpPr>
        <p:spPr>
          <a:xfrm>
            <a:off x="-704850" y="800100"/>
            <a:ext cx="1562100" cy="1809750"/>
          </a:xfrm>
          <a:prstGeom prst="chevron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3" name="Arrow: Chevron 2">
            <a:extLst>
              <a:ext uri="{FF2B5EF4-FFF2-40B4-BE49-F238E27FC236}">
                <a16:creationId xmlns:a16="http://schemas.microsoft.com/office/drawing/2014/main" id="{1BDDCEE2-2075-4D8A-BA2C-09277BB7C6EB}"/>
              </a:ext>
            </a:extLst>
          </p:cNvPr>
          <p:cNvSpPr>
            <a:spLocks noGrp="1"/>
          </p:cNvSpPr>
          <p:nvPr/>
        </p:nvSpPr>
        <p:spPr>
          <a:xfrm>
            <a:off x="11372850" y="4095750"/>
            <a:ext cx="1562100" cy="1809750"/>
          </a:xfrm>
          <a:prstGeom prst="chevron">
            <a:avLst/>
          </a:prstGeom>
          <a:solidFill>
            <a:srgbClr val="EEF3FF"/>
          </a:solidFill>
          <a:ln w="0">
            <a:noFill/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8EA3A3-2912-4FAE-94A9-A629886D2C57}"/>
              </a:ext>
            </a:extLst>
          </p:cNvPr>
          <p:cNvSpPr>
            <a:spLocks noGrp="1"/>
          </p:cNvSpPr>
          <p:nvPr/>
        </p:nvSpPr>
        <p:spPr>
          <a:xfrm rot="2700000">
            <a:off x="11572875" y="381000"/>
            <a:ext cx="590550" cy="5905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511EE-8988-4F81-8941-7351CBF62EB3}"/>
              </a:ext>
            </a:extLst>
          </p:cNvPr>
          <p:cNvSpPr>
            <a:spLocks noGrp="1"/>
          </p:cNvSpPr>
          <p:nvPr/>
        </p:nvSpPr>
        <p:spPr>
          <a:xfrm rot="2700000">
            <a:off x="11068050" y="209550"/>
            <a:ext cx="419100" cy="419100"/>
          </a:xfrm>
          <a:prstGeom prst="rect">
            <a:avLst/>
          </a:prstGeom>
          <a:solidFill>
            <a:srgbClr val="3E73A5"/>
          </a:solidFill>
          <a:ln w="0">
            <a:noFill/>
            <a:prstDash val="solid"/>
          </a:ln>
        </p:spPr>
      </p:sp>
      <p:sp>
        <p:nvSpPr>
          <p:cNvPr id="6" name="section-15">
            <a:extLst>
              <a:ext uri="{FF2B5EF4-FFF2-40B4-BE49-F238E27FC236}">
                <a16:creationId xmlns:a16="http://schemas.microsoft.com/office/drawing/2014/main" id="{1B6BB591-166A-4A57-A1F0-A4702E5D20B5}"/>
              </a:ext>
            </a:extLst>
          </p:cNvPr>
          <p:cNvSpPr>
            <a:spLocks noGrp="1"/>
          </p:cNvSpPr>
          <p:nvPr/>
        </p:nvSpPr>
        <p:spPr>
          <a:xfrm>
            <a:off x="514350" y="2476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200" b="1" i="0">
                <a:solidFill>
                  <a:srgbClr val="3E73A5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E73A5"/>
                </a:solidFill>
                <a:latin typeface="Arial"/>
                <a:ea typeface="Arial"/>
                <a:cs typeface="Arial"/>
              </a:rPr>
              <a:t>BACKUP</a:t>
            </a:r>
          </a:p>
        </p:txBody>
      </p:sp>
      <p:sp>
        <p:nvSpPr>
          <p:cNvPr id="7" name="slide-number-15">
            <a:extLst>
              <a:ext uri="{FF2B5EF4-FFF2-40B4-BE49-F238E27FC236}">
                <a16:creationId xmlns:a16="http://schemas.microsoft.com/office/drawing/2014/main" id="{6A35E4E3-53D0-45BE-9C44-BD1A906AB4AE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457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0000"/>
              </a:lnSpc>
              <a:buNone/>
              <a:defRPr sz="1200" b="1" i="0">
                <a:solidFill>
                  <a:srgbClr val="4F5775"/>
                </a:solidFill>
                <a:latin typeface="Arial"/>
                <a:ea typeface="Arial"/>
                <a:cs typeface="Arial"/>
              </a:defRPr>
            </a:pPr>
            <a:r>
              <a:rPr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1</a:t>
            </a:r>
            <a:r>
              <a:rPr lang="en-US" sz="1200" b="1" i="0" dirty="0">
                <a:solidFill>
                  <a:srgbClr val="4F5775"/>
                </a:solidFill>
                <a:latin typeface="Arial"/>
                <a:ea typeface="Arial"/>
                <a:cs typeface="Arial"/>
              </a:rPr>
              <a:t>7</a:t>
            </a:r>
            <a:endParaRPr sz="1200" b="1" i="0" dirty="0">
              <a:solidFill>
                <a:srgbClr val="4F5775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itle-15">
            <a:extLst>
              <a:ext uri="{FF2B5EF4-FFF2-40B4-BE49-F238E27FC236}">
                <a16:creationId xmlns:a16="http://schemas.microsoft.com/office/drawing/2014/main" id="{5713F9EC-FC09-4C93-BBEF-054FEB47BDAC}"/>
              </a:ext>
            </a:extLst>
          </p:cNvPr>
          <p:cNvSpPr>
            <a:spLocks noGrp="1"/>
          </p:cNvSpPr>
          <p:nvPr/>
        </p:nvSpPr>
        <p:spPr>
          <a:xfrm>
            <a:off x="1238250" y="476250"/>
            <a:ext cx="9525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36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Telemetry </a:t>
            </a:r>
            <a:r>
              <a:rPr lang="en-US" sz="360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to Validate Caps</a:t>
            </a:r>
            <a:endParaRPr sz="3600" b="1" i="0" dirty="0">
              <a:solidFill>
                <a:srgbClr val="0B0B6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EC6C4-8C42-4BC9-A453-4D7ED9CDE79F}"/>
              </a:ext>
            </a:extLst>
          </p:cNvPr>
          <p:cNvSpPr>
            <a:spLocks noGrp="1"/>
          </p:cNvSpPr>
          <p:nvPr/>
        </p:nvSpPr>
        <p:spPr>
          <a:xfrm>
            <a:off x="3638550" y="1219200"/>
            <a:ext cx="4914900" cy="19050"/>
          </a:xfrm>
          <a:prstGeom prst="rect">
            <a:avLst/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A9ED73-D559-4F3C-8E9F-DDCDA9B0CE5D}"/>
              </a:ext>
            </a:extLst>
          </p:cNvPr>
          <p:cNvSpPr>
            <a:spLocks noGrp="1"/>
          </p:cNvSpPr>
          <p:nvPr/>
        </p:nvSpPr>
        <p:spPr>
          <a:xfrm rot="2700000">
            <a:off x="6010275" y="1143000"/>
            <a:ext cx="133350" cy="133350"/>
          </a:xfrm>
          <a:prstGeom prst="rect">
            <a:avLst/>
          </a:prstGeom>
          <a:solidFill>
            <a:srgbClr val="6594F4"/>
          </a:solidFill>
          <a:ln w="0">
            <a:noFill/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A87DBD7-70D5-41B4-A9D2-DD0389006804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oundRect">
            <a:avLst>
              <a:gd name="adj" fmla="val 26667"/>
            </a:avLst>
          </a:prstGeom>
          <a:solidFill>
            <a:srgbClr val="0B0B67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CA9AB2E-6C37-4FE7-A7A5-334C1197ED3B}"/>
              </a:ext>
            </a:extLst>
          </p:cNvPr>
          <p:cNvSpPr>
            <a:spLocks noGrp="1"/>
          </p:cNvSpPr>
          <p:nvPr/>
        </p:nvSpPr>
        <p:spPr>
          <a:xfrm>
            <a:off x="514350" y="61912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BACKUP - NOT IN TIMED FLOW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1AAE2E-05BA-4CA8-A4AF-87855876BC90}"/>
              </a:ext>
            </a:extLst>
          </p:cNvPr>
          <p:cNvSpPr>
            <a:spLocks noGrp="1"/>
          </p:cNvSpPr>
          <p:nvPr/>
        </p:nvSpPr>
        <p:spPr>
          <a:xfrm>
            <a:off x="914400" y="1562100"/>
            <a:ext cx="103632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2FB25F-D6C9-4E9B-9D52-673EFBC256D7}"/>
              </a:ext>
            </a:extLst>
          </p:cNvPr>
          <p:cNvSpPr>
            <a:spLocks noGrp="1"/>
          </p:cNvSpPr>
          <p:nvPr/>
        </p:nvSpPr>
        <p:spPr>
          <a:xfrm>
            <a:off x="914400" y="1562100"/>
            <a:ext cx="2476500" cy="628650"/>
          </a:xfrm>
          <a:prstGeom prst="rect">
            <a:avLst/>
          </a:prstGeom>
          <a:solidFill>
            <a:srgbClr val="EEF3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E7040A-90C6-4A0F-B65A-00DECFC258CD}"/>
              </a:ext>
            </a:extLst>
          </p:cNvPr>
          <p:cNvSpPr>
            <a:spLocks noGrp="1"/>
          </p:cNvSpPr>
          <p:nvPr/>
        </p:nvSpPr>
        <p:spPr>
          <a:xfrm>
            <a:off x="1066800" y="16192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UE / RNTI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DB651E-511A-48A6-A06E-E98A7BFEDD0B}"/>
              </a:ext>
            </a:extLst>
          </p:cNvPr>
          <p:cNvSpPr>
            <a:spLocks noGrp="1"/>
          </p:cNvSpPr>
          <p:nvPr/>
        </p:nvSpPr>
        <p:spPr>
          <a:xfrm>
            <a:off x="3638550" y="1619250"/>
            <a:ext cx="733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 dirty="0">
                <a:solidFill>
                  <a:srgbClr val="11152F"/>
                </a:solidFill>
                <a:latin typeface="Arial"/>
                <a:ea typeface="Arial"/>
                <a:cs typeface="Arial"/>
              </a:rPr>
              <a:t>Identifies the connected device and the grants attributed to it.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11B7B26-BFC5-489F-ADA6-892D87F24D06}"/>
              </a:ext>
            </a:extLst>
          </p:cNvPr>
          <p:cNvSpPr>
            <a:spLocks noGrp="1"/>
          </p:cNvSpPr>
          <p:nvPr/>
        </p:nvSpPr>
        <p:spPr>
          <a:xfrm>
            <a:off x="914400" y="2362200"/>
            <a:ext cx="10363200" cy="628650"/>
          </a:xfrm>
          <a:prstGeom prst="roundRect">
            <a:avLst>
              <a:gd name="adj" fmla="val 12121"/>
            </a:avLst>
          </a:prstGeom>
          <a:solidFill>
            <a:srgbClr val="F7F9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5DACFD-BF32-4391-BC56-CC20E20435E0}"/>
              </a:ext>
            </a:extLst>
          </p:cNvPr>
          <p:cNvSpPr>
            <a:spLocks noGrp="1"/>
          </p:cNvSpPr>
          <p:nvPr/>
        </p:nvSpPr>
        <p:spPr>
          <a:xfrm>
            <a:off x="914400" y="2362200"/>
            <a:ext cx="2476500" cy="628650"/>
          </a:xfrm>
          <a:prstGeom prst="rect">
            <a:avLst/>
          </a:prstGeom>
          <a:solidFill>
            <a:srgbClr val="FFF4DD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C3CCD3-AFD1-44D7-AF2A-D98D4FC85434}"/>
              </a:ext>
            </a:extLst>
          </p:cNvPr>
          <p:cNvSpPr>
            <a:spLocks noGrp="1"/>
          </p:cNvSpPr>
          <p:nvPr/>
        </p:nvSpPr>
        <p:spPr>
          <a:xfrm>
            <a:off x="1066800" y="24193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Grant type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EC9344-94D4-4853-BCFA-4A5140C7DFC2}"/>
              </a:ext>
            </a:extLst>
          </p:cNvPr>
          <p:cNvSpPr>
            <a:spLocks noGrp="1"/>
          </p:cNvSpPr>
          <p:nvPr/>
        </p:nvSpPr>
        <p:spPr>
          <a:xfrm>
            <a:off x="3638550" y="2419350"/>
            <a:ext cx="733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Separates new transmissions from HARQ retransmissions.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929F852-B26F-47BA-ABA9-C0E6DF49B142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103632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07DDE9-E5DE-4555-82E9-994462956488}"/>
              </a:ext>
            </a:extLst>
          </p:cNvPr>
          <p:cNvSpPr>
            <a:spLocks noGrp="1"/>
          </p:cNvSpPr>
          <p:nvPr/>
        </p:nvSpPr>
        <p:spPr>
          <a:xfrm>
            <a:off x="914400" y="3162300"/>
            <a:ext cx="2476500" cy="628650"/>
          </a:xfrm>
          <a:prstGeom prst="rect">
            <a:avLst/>
          </a:prstGeom>
          <a:solidFill>
            <a:srgbClr val="EEF3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0FE3A77-34E4-4BE4-B397-7C6972236B13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PRB start / size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CCA1B1-2296-479D-814C-3C1B89BE84B1}"/>
              </a:ext>
            </a:extLst>
          </p:cNvPr>
          <p:cNvSpPr>
            <a:spLocks noGrp="1"/>
          </p:cNvSpPr>
          <p:nvPr/>
        </p:nvSpPr>
        <p:spPr>
          <a:xfrm>
            <a:off x="3638550" y="3219450"/>
            <a:ext cx="733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Shows where the grant begins and how many PRBs it allocates.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863C7B8-DA60-4A37-9AEA-3791A81D209C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10363200" cy="628650"/>
          </a:xfrm>
          <a:prstGeom prst="roundRect">
            <a:avLst>
              <a:gd name="adj" fmla="val 12121"/>
            </a:avLst>
          </a:prstGeom>
          <a:solidFill>
            <a:srgbClr val="F7F9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3A8932F-A66F-4AFB-BD4C-88F4F96A7257}"/>
              </a:ext>
            </a:extLst>
          </p:cNvPr>
          <p:cNvSpPr>
            <a:spLocks noGrp="1"/>
          </p:cNvSpPr>
          <p:nvPr/>
        </p:nvSpPr>
        <p:spPr>
          <a:xfrm>
            <a:off x="914400" y="3962400"/>
            <a:ext cx="2476500" cy="628650"/>
          </a:xfrm>
          <a:prstGeom prst="rect">
            <a:avLst/>
          </a:prstGeom>
          <a:solidFill>
            <a:srgbClr val="EEF3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5F44BC-8B93-4A38-83EE-C883085A37A5}"/>
              </a:ext>
            </a:extLst>
          </p:cNvPr>
          <p:cNvSpPr>
            <a:spLocks noGrp="1"/>
          </p:cNvSpPr>
          <p:nvPr/>
        </p:nvSpPr>
        <p:spPr>
          <a:xfrm>
            <a:off x="1066800" y="40195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MCS and TBS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749898-8082-4846-B538-CE075DF62137}"/>
              </a:ext>
            </a:extLst>
          </p:cNvPr>
          <p:cNvSpPr>
            <a:spLocks noGrp="1"/>
          </p:cNvSpPr>
          <p:nvPr/>
        </p:nvSpPr>
        <p:spPr>
          <a:xfrm>
            <a:off x="3638550" y="4019550"/>
            <a:ext cx="733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Captures coding/modulation and transport block size for the grant.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ED483F0-4EDD-4764-89B6-E02E75750D25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10363200" cy="62865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9B48A1-E68D-48FD-A3BA-7853BDAB75AB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2476500" cy="628650"/>
          </a:xfrm>
          <a:prstGeom prst="rect">
            <a:avLst/>
          </a:prstGeom>
          <a:solidFill>
            <a:srgbClr val="EEF3FF"/>
          </a:solidFill>
          <a:ln w="11430">
            <a:solidFill>
              <a:srgbClr val="A7BE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C8C77F-0C7B-45FD-9762-6281770A6DB5}"/>
              </a:ext>
            </a:extLst>
          </p:cNvPr>
          <p:cNvSpPr>
            <a:spLocks noGrp="1"/>
          </p:cNvSpPr>
          <p:nvPr/>
        </p:nvSpPr>
        <p:spPr>
          <a:xfrm>
            <a:off x="1066800" y="4819650"/>
            <a:ext cx="21717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  <a:buNone/>
              <a:defRPr sz="180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0B67"/>
                </a:solidFill>
                <a:latin typeface="Arial"/>
                <a:ea typeface="Arial"/>
                <a:cs typeface="Arial"/>
              </a:rPr>
              <a:t>HARQ PID / round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E68A7E-1C17-44B3-BD59-41076223E92D}"/>
              </a:ext>
            </a:extLst>
          </p:cNvPr>
          <p:cNvSpPr>
            <a:spLocks noGrp="1"/>
          </p:cNvSpPr>
          <p:nvPr/>
        </p:nvSpPr>
        <p:spPr>
          <a:xfrm>
            <a:off x="3638550" y="4819650"/>
            <a:ext cx="7334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0" i="0">
                <a:solidFill>
                  <a:srgbClr val="11152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152F"/>
                </a:solidFill>
                <a:latin typeface="Arial"/>
                <a:ea typeface="Arial"/>
                <a:cs typeface="Arial"/>
              </a:rPr>
              <a:t>Links retransmission state to the corresponding HARQ process.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24346EF-321A-45DF-ADA9-33CF2C494595}"/>
              </a:ext>
            </a:extLst>
          </p:cNvPr>
          <p:cNvSpPr>
            <a:spLocks noGrp="1"/>
          </p:cNvSpPr>
          <p:nvPr/>
        </p:nvSpPr>
        <p:spPr>
          <a:xfrm>
            <a:off x="2133600" y="5734050"/>
            <a:ext cx="7924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2790"/>
          </a:bodyPr>
          <a:lstStyle/>
          <a:p>
            <a:pPr algn="ctr">
              <a:lnSpc>
                <a:spcPct val="100000"/>
              </a:lnSpc>
              <a:buNone/>
              <a:defRPr sz="1950" b="1" i="0">
                <a:solidFill>
                  <a:srgbClr val="0B0B67"/>
                </a:solidFill>
                <a:latin typeface="Arial"/>
                <a:ea typeface="Arial"/>
                <a:cs typeface="Arial"/>
              </a:defRPr>
            </a:pPr>
            <a:r>
              <a:rPr lang="en-US" sz="195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Validation rule: do not infer a scheduler cap from </a:t>
            </a:r>
            <a:r>
              <a:rPr lang="en-US" sz="1950" b="1" i="0" dirty="0" err="1">
                <a:solidFill>
                  <a:srgbClr val="0B0B67"/>
                </a:solidFill>
                <a:latin typeface="Arial"/>
                <a:ea typeface="Arial"/>
                <a:cs typeface="Arial"/>
              </a:rPr>
              <a:t>iPerf</a:t>
            </a:r>
            <a:r>
              <a:rPr lang="en-US" sz="1950" b="1" i="0" dirty="0">
                <a:solidFill>
                  <a:srgbClr val="0B0B67"/>
                </a:solidFill>
                <a:latin typeface="Arial"/>
                <a:ea typeface="Arial"/>
                <a:cs typeface="Arial"/>
              </a:rPr>
              <a:t> throughput alone.</a:t>
            </a:r>
          </a:p>
        </p:txBody>
      </p:sp>
    </p:spTree>
    <p:extLst>
      <p:ext uri="{BB962C8B-B14F-4D97-AF65-F5344CB8AC3E}">
        <p14:creationId xmlns:p14="http://schemas.microsoft.com/office/powerpoint/2010/main" val="19753207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WINLAB Academic Blue">
      <a:dk1>
        <a:srgbClr val="000000"/>
      </a:dk1>
      <a:lt1>
        <a:srgbClr val="FFFFFF"/>
      </a:lt1>
      <a:dk2>
        <a:srgbClr val="11152F"/>
      </a:dk2>
      <a:lt2>
        <a:srgbClr val="EEF3FF"/>
      </a:lt2>
      <a:accent1>
        <a:srgbClr val="6594F4"/>
      </a:accent1>
      <a:accent2>
        <a:srgbClr val="3E73A5"/>
      </a:accent2>
      <a:accent3>
        <a:srgbClr val="F59E0B"/>
      </a:accent3>
      <a:accent4>
        <a:srgbClr val="3A8B63"/>
      </a:accent4>
      <a:accent5>
        <a:srgbClr val="0B0B67"/>
      </a:accent5>
      <a:accent6>
        <a:srgbClr val="C44545"/>
      </a:accent6>
      <a:hlink>
        <a:srgbClr val="245FD6"/>
      </a:hlink>
      <a:folHlink>
        <a:srgbClr val="6D4CC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INLAB Academic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WINLAB Academic Blue">
      <a:dk1>
        <a:srgbClr val="000000"/>
      </a:dk1>
      <a:lt1>
        <a:srgbClr val="FFFFFF"/>
      </a:lt1>
      <a:dk2>
        <a:srgbClr val="11152F"/>
      </a:dk2>
      <a:lt2>
        <a:srgbClr val="EEF3FF"/>
      </a:lt2>
      <a:accent1>
        <a:srgbClr val="6594F4"/>
      </a:accent1>
      <a:accent2>
        <a:srgbClr val="3E73A5"/>
      </a:accent2>
      <a:accent3>
        <a:srgbClr val="F59E0B"/>
      </a:accent3>
      <a:accent4>
        <a:srgbClr val="3A8B63"/>
      </a:accent4>
      <a:accent5>
        <a:srgbClr val="0B0B67"/>
      </a:accent5>
      <a:accent6>
        <a:srgbClr val="C44545"/>
      </a:accent6>
      <a:hlink>
        <a:srgbClr val="245FD6"/>
      </a:hlink>
      <a:folHlink>
        <a:srgbClr val="6D4CC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WINLAB Academic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3165</Words>
  <Application>Microsoft Office PowerPoint</Application>
  <DocSecurity>0</DocSecurity>
  <PresentationFormat>Widescreen</PresentationFormat>
  <Paragraphs>437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Jesaya David P</cp:lastModifiedBy>
  <cp:revision>5</cp:revision>
  <dcterms:created xsi:type="dcterms:W3CDTF">2026-08-05T15:27:53Z</dcterms:created>
  <dcterms:modified xsi:type="dcterms:W3CDTF">2026-08-06T02:20:38Z</dcterms:modified>
</cp:coreProperties>
</file>